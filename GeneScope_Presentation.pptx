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2d8d99-5dab-6558-675c-0d40c1257af8}">
          <p14:sldIdLst>
            <p14:sldId id="256"/>
            <p14:sldId id="257"/>
            <p14:sldId id="258"/>
            <p14:sldId id="259"/>
          </p14:sldIdLst>
        </p14:section>
        <p14:section name="Dataset" id="{2bc455e1-672a-6c82-3d60-9333522bce42}">
          <p14:sldIdLst>
            <p14:sldId id="260"/>
            <p14:sldId id="261"/>
            <p14:sldId id="262"/>
          </p14:sldIdLst>
        </p14:section>
        <p14:section name="Method" id="{c7ae85b5-4fc0-2eba-1641-76522cf357b8}">
          <p14:sldIdLst>
            <p14:sldId id="263"/>
            <p14:sldId id="264"/>
          </p14:sldIdLst>
        </p14:section>
        <p14:section name="Results" id="{75f49806-ad02-a12c-4fc3-2d6213fc86e6}">
          <p14:sldIdLst>
            <p14:sldId id="265"/>
            <p14:sldId id="266"/>
            <p14:sldId id="267"/>
            <p14:sldId id="268"/>
          </p14:sldIdLst>
        </p14:section>
        <p14:section name="Application" id="{3fdee78e-347a-803d-6114-e2eae60de0c6}">
          <p14:sldIdLst>
            <p14:sldId id="269"/>
            <p14:sldId id="270"/>
          </p14:sldIdLst>
        </p14:section>
        <p14:section name="Conclusion" id="{d753931d-082c-70ef-fd55-eda2d445b58f}">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3D"/>
                </a:solidFill>
                <a:latin typeface="+mn-lt"/>
              </a:defRPr>
            </a:pPr>
            <a:r>
              <a:rPr sz="1400" b="0" i="0" u="none" strike="noStrike">
                <a:solidFill>
                  <a:srgbClr val="0E3B3D"/>
                </a:solidFill>
                <a:latin typeface="+mn-lt"/>
              </a:rPr>
              <a:t>5-fold cross-validation accuracy (training data)</a:t>
            </a:r>
          </a:p>
        </c:rich>
      </c:tx>
      <c:layout/>
      <c:overlay val="0"/>
    </c:title>
    <c:autoTitleDeleted val="0"/>
    <c:plotArea>
      <c:layout/>
      <c:barChart>
        <c:barDir val="bar"/>
        <c:grouping val="clustered"/>
        <c:varyColors val="0"/>
        <c:ser>
          <c:idx val="0"/>
          <c:order val="0"/>
          <c:tx>
            <c:strRef>
              <c:f>Sheet1!$B$1</c:f>
              <c:strCache>
                <c:ptCount val="1"/>
                <c:pt idx="0">
                  <c:v>CV accuracy (%)</c:v>
                </c:pt>
              </c:strCache>
            </c:strRef>
          </c:tx>
          <c:spPr>
            <a:solidFill>
              <a:srgbClr val="13A89E"/>
            </a:solidFill>
            <a:effectLst/>
          </c:spPr>
          <c:invertIfNegative val="0"/>
          <c:dLbls>
            <c:numFmt formatCode="0.0&quot;%&quot;" sourceLinked="0"/>
            <c:txPr>
              <a:bodyPr/>
              <a:lstStyle/>
              <a:p>
                <a:pPr>
                  <a:defRPr b="0" i="0" strike="noStrike" sz="1200" u="none">
                    <a:solidFill>
                      <a:srgbClr val="1B2428"/>
                    </a:solidFill>
                    <a:latin typeface="+mn-lt"/>
                  </a:defRPr>
                </a:pPr>
              </a:p>
            </c:txPr>
            <c:showLegendKey val="0"/>
            <c:showVal val="1"/>
            <c:showCatName val="0"/>
            <c:showSerName val="0"/>
            <c:showPercent val="0"/>
            <c:showBubbleSize val="0"/>
            <c:showLeaderLines val="0"/>
          </c:dLbls>
          <c:cat>
            <c:multiLvlStrRef>
              <c:f>Sheet1!$A$2:$A$7</c:f>
              <c:multiLvlStrCache>
                <c:ptCount val="6"/>
                <c:lvl>
                  <c:pt idx="0">
                    <c:v>Deep Neural Network</c:v>
                  </c:pt>
                  <c:pt idx="1">
                    <c:v>Support Vector Machine</c:v>
                  </c:pt>
                  <c:pt idx="2">
                    <c:v>Random Forest</c:v>
                  </c:pt>
                  <c:pt idx="3">
                    <c:v>Logistic Regression</c:v>
                  </c:pt>
                  <c:pt idx="4">
                    <c:v>XGBoost</c:v>
                  </c:pt>
                  <c:pt idx="5">
                    <c:v>Gradient Boosting</c:v>
                  </c:pt>
                </c:lvl>
              </c:multiLvlStrCache>
            </c:multiLvlStrRef>
          </c:cat>
          <c:val>
            <c:numRef>
              <c:f>Sheet1!$B$2:$B$7</c:f>
              <c:numCache>
                <c:formatCode>General</c:formatCode>
                <c:ptCount val="6"/>
                <c:pt idx="0">
                  <c:v>95.1</c:v>
                </c:pt>
                <c:pt idx="1">
                  <c:v>95.4</c:v>
                </c:pt>
                <c:pt idx="2">
                  <c:v>95.4</c:v>
                </c:pt>
                <c:pt idx="3">
                  <c:v>95</c:v>
                </c:pt>
                <c:pt idx="4">
                  <c:v>93.9</c:v>
                </c:pt>
                <c:pt idx="5">
                  <c:v>93.9</c:v>
                </c:pt>
              </c:numCache>
            </c:numRef>
          </c:val>
        </c:ser>
        <c:dLbls>
          <c:numFmt formatCode="0.0&quot;%&quot;" sourceLinked="0"/>
          <c:txPr>
            <a:bodyPr/>
            <a:lstStyle/>
            <a:p>
              <a:pPr>
                <a:defRPr b="0" i="0" strike="noStrike" sz="1200" u="none">
                  <a:solidFill>
                    <a:srgbClr val="1B24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28"/>
                </a:solidFill>
                <a:latin typeface="+mn-lt"/>
              </a:defRPr>
            </a:pPr>
            <a:endParaRPr lang="en-US"/>
          </a:p>
        </c:txPr>
        <c:crossAx val="2094734552"/>
        <c:crosses val="autoZero"/>
        <c:auto val="1"/>
        <c:lblAlgn val="ctr"/>
        <c:noMultiLvlLbl val="1"/>
      </c:catAx>
      <c:valAx>
        <c:axId val="2094734552"/>
        <c:scaling>
          <c:orientation val="minMax"/>
          <c:max val="97"/>
          <c:min val="90"/>
        </c:scaling>
        <c:delete val="0"/>
        <c:axPos val="b"/>
        <c:majorGridlines>
          <c:spPr>
            <a:ln w="9525" cap="flat">
              <a:solidFill>
                <a:srgbClr val="D9E6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3D"/>
                </a:solidFill>
                <a:latin typeface="+mn-lt"/>
              </a:defRPr>
            </a:pPr>
            <a:r>
              <a:rPr sz="1400" b="0" i="0" u="none" strike="noStrike">
                <a:solidFill>
                  <a:srgbClr val="0E3B3D"/>
                </a:solidFill>
                <a:latin typeface="+mn-lt"/>
              </a:rPr>
              <a:t>Precision, recall and F1 by disease (%)</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0E3B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Thalassemia</c:v>
                  </c:pt>
                  <c:pt idx="1">
                    <c:v>Hemophilia</c:v>
                  </c:pt>
                  <c:pt idx="2">
                    <c:v>Breast Cancer</c:v>
                  </c:pt>
                  <c:pt idx="3">
                    <c:v>Sickle Cell</c:v>
                  </c:pt>
                  <c:pt idx="4">
                    <c:v>Cystic Fibrosis</c:v>
                  </c:pt>
                </c:lvl>
              </c:multiLvlStrCache>
            </c:multiLvlStrRef>
          </c:cat>
          <c:val>
            <c:numRef>
              <c:f>Sheet1!$B$2:$B$6</c:f>
              <c:numCache>
                <c:formatCode>General</c:formatCode>
                <c:ptCount val="5"/>
                <c:pt idx="0">
                  <c:v>92.7</c:v>
                </c:pt>
                <c:pt idx="1">
                  <c:v>95</c:v>
                </c:pt>
                <c:pt idx="2">
                  <c:v>100</c:v>
                </c:pt>
                <c:pt idx="3">
                  <c:v>97.5</c:v>
                </c:pt>
                <c:pt idx="4">
                  <c:v>95.1</c:v>
                </c:pt>
              </c:numCache>
            </c:numRef>
          </c:val>
        </c:ser>
        <c:ser>
          <c:idx val="1"/>
          <c:order val="1"/>
          <c:tx>
            <c:strRef>
              <c:f>Sheet1!$C$1</c:f>
              <c:strCache>
                <c:ptCount val="1"/>
                <c:pt idx="0">
                  <c:v>Recall</c:v>
                </c:pt>
              </c:strCache>
            </c:strRef>
          </c:tx>
          <c:spPr>
            <a:solidFill>
              <a:srgbClr val="13A8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Thalassemia</c:v>
                  </c:pt>
                  <c:pt idx="1">
                    <c:v>Hemophilia</c:v>
                  </c:pt>
                  <c:pt idx="2">
                    <c:v>Breast Cancer</c:v>
                  </c:pt>
                  <c:pt idx="3">
                    <c:v>Sickle Cell</c:v>
                  </c:pt>
                  <c:pt idx="4">
                    <c:v>Cystic Fibrosis</c:v>
                  </c:pt>
                </c:lvl>
              </c:multiLvlStrCache>
            </c:multiLvlStrRef>
          </c:cat>
          <c:val>
            <c:numRef>
              <c:f>Sheet1!$C$2:$C$6</c:f>
              <c:numCache>
                <c:formatCode>General</c:formatCode>
                <c:ptCount val="5"/>
                <c:pt idx="0">
                  <c:v>97.4</c:v>
                </c:pt>
                <c:pt idx="1">
                  <c:v>97.4</c:v>
                </c:pt>
                <c:pt idx="2">
                  <c:v>92.7</c:v>
                </c:pt>
                <c:pt idx="3">
                  <c:v>95.1</c:v>
                </c:pt>
                <c:pt idx="4">
                  <c:v>97.5</c:v>
                </c:pt>
              </c:numCache>
            </c:numRef>
          </c:val>
        </c:ser>
        <c:ser>
          <c:idx val="2"/>
          <c:order val="2"/>
          <c:tx>
            <c:strRef>
              <c:f>Sheet1!$D$1</c:f>
              <c:strCache>
                <c:ptCount val="1"/>
                <c:pt idx="0">
                  <c:v>F1 score</c:v>
                </c:pt>
              </c:strCache>
            </c:strRef>
          </c:tx>
          <c:spPr>
            <a:solidFill>
              <a:srgbClr val="F299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Thalassemia</c:v>
                  </c:pt>
                  <c:pt idx="1">
                    <c:v>Hemophilia</c:v>
                  </c:pt>
                  <c:pt idx="2">
                    <c:v>Breast Cancer</c:v>
                  </c:pt>
                  <c:pt idx="3">
                    <c:v>Sickle Cell</c:v>
                  </c:pt>
                  <c:pt idx="4">
                    <c:v>Cystic Fibrosis</c:v>
                  </c:pt>
                </c:lvl>
              </c:multiLvlStrCache>
            </c:multiLvlStrRef>
          </c:cat>
          <c:val>
            <c:numRef>
              <c:f>Sheet1!$D$2:$D$6</c:f>
              <c:numCache>
                <c:formatCode>General</c:formatCode>
                <c:ptCount val="5"/>
                <c:pt idx="0">
                  <c:v>95</c:v>
                </c:pt>
                <c:pt idx="1">
                  <c:v>96.2</c:v>
                </c:pt>
                <c:pt idx="2">
                  <c:v>96.2</c:v>
                </c:pt>
                <c:pt idx="3">
                  <c:v>96.3</c:v>
                </c:pt>
                <c:pt idx="4">
                  <c:v>96.3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28"/>
                </a:solidFill>
                <a:latin typeface="+mn-lt"/>
              </a:defRPr>
            </a:pPr>
            <a:endParaRPr lang="en-US"/>
          </a:p>
        </c:txPr>
        <c:crossAx val="2094734552"/>
        <c:crosses val="autoZero"/>
        <c:auto val="1"/>
        <c:lblAlgn val="ctr"/>
        <c:noMultiLvlLbl val="1"/>
      </c:catAx>
      <c:valAx>
        <c:axId val="2094734552"/>
        <c:scaling>
          <c:orientation val="minMax"/>
          <c:max val="100"/>
          <c:min val="85"/>
        </c:scaling>
        <c:delete val="0"/>
        <c:axPos val="l"/>
        <c:majorGridlines>
          <c:spPr>
            <a:ln w="9525" cap="flat">
              <a:solidFill>
                <a:srgbClr val="D9E6E4"/>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B24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3D"/>
                </a:solidFill>
                <a:latin typeface="+mn-lt"/>
              </a:defRPr>
            </a:pPr>
            <a:r>
              <a:rPr sz="1400" b="0" i="0" u="none" strike="noStrike">
                <a:solidFill>
                  <a:srgbClr val="0E3B3D"/>
                </a:solidFill>
                <a:latin typeface="+mn-lt"/>
              </a:rPr>
              <a:t>Accuracy drop (% points) when the test is shuffled</a:t>
            </a:r>
          </a:p>
        </c:rich>
      </c:tx>
      <c:layout/>
      <c:overlay val="0"/>
    </c:title>
    <c:autoTitleDeleted val="0"/>
    <c:plotArea>
      <c:layout/>
      <c:barChart>
        <c:barDir val="bar"/>
        <c:grouping val="clustered"/>
        <c:varyColors val="0"/>
        <c:ser>
          <c:idx val="0"/>
          <c:order val="0"/>
          <c:tx>
            <c:strRef>
              <c:f>Sheet1!$B$1</c:f>
              <c:strCache>
                <c:ptCount val="1"/>
                <c:pt idx="0">
                  <c:v>Accuracy drop</c:v>
                </c:pt>
              </c:strCache>
            </c:strRef>
          </c:tx>
          <c:spPr>
            <a:solidFill>
              <a:srgbClr val="13A89E"/>
            </a:solidFill>
            <a:effectLst/>
          </c:spPr>
          <c:invertIfNegative val="0"/>
          <c:dLbls>
            <c:numFmt formatCode="0.0" sourceLinked="0"/>
            <c:txPr>
              <a:bodyPr/>
              <a:lstStyle/>
              <a:p>
                <a:pPr>
                  <a:defRPr b="0" i="0" strike="noStrike" sz="1200" u="none">
                    <a:solidFill>
                      <a:srgbClr val="1B2428"/>
                    </a:solidFill>
                    <a:latin typeface="+mn-lt"/>
                  </a:defRPr>
                </a:pPr>
              </a:p>
            </c:txPr>
            <c:showLegendKey val="0"/>
            <c:showVal val="1"/>
            <c:showCatName val="0"/>
            <c:showSerName val="0"/>
            <c:showPercent val="0"/>
            <c:showBubbleSize val="0"/>
            <c:showLeaderLines val="0"/>
          </c:dLbls>
          <c:cat>
            <c:multiLvlStrRef>
              <c:f>Sheet1!$A$2:$A$9</c:f>
              <c:multiLvlStrCache>
                <c:ptCount val="8"/>
                <c:lvl>
                  <c:pt idx="0">
                    <c:v>Sickled RBC %</c:v>
                  </c:pt>
                  <c:pt idx="1">
                    <c:v>BRCA1 expression</c:v>
                  </c:pt>
                  <c:pt idx="2">
                    <c:v>Sweat chloride</c:v>
                  </c:pt>
                  <c:pt idx="3">
                    <c:v>Serum ferritin</c:v>
                  </c:pt>
                  <c:pt idx="4">
                    <c:v>IL-6 level</c:v>
                  </c:pt>
                  <c:pt idx="5">
                    <c:v>Fetal hemoglobin</c:v>
                  </c:pt>
                  <c:pt idx="6">
                    <c:v>Hemoglobin</c:v>
                  </c:pt>
                  <c:pt idx="7">
                    <c:v>p53 mutation</c:v>
                  </c:pt>
                </c:lvl>
              </c:multiLvlStrCache>
            </c:multiLvlStrRef>
          </c:cat>
          <c:val>
            <c:numRef>
              <c:f>Sheet1!$B$2:$B$9</c:f>
              <c:numCache>
                <c:formatCode>General</c:formatCode>
                <c:ptCount val="8"/>
                <c:pt idx="0">
                  <c:v>21.8</c:v>
                </c:pt>
                <c:pt idx="1">
                  <c:v>11.8</c:v>
                </c:pt>
                <c:pt idx="2">
                  <c:v>10.9</c:v>
                </c:pt>
                <c:pt idx="3">
                  <c:v>8</c:v>
                </c:pt>
                <c:pt idx="4">
                  <c:v>6.8</c:v>
                </c:pt>
                <c:pt idx="5">
                  <c:v>4.3</c:v>
                </c:pt>
                <c:pt idx="6">
                  <c:v>2.3</c:v>
                </c:pt>
                <c:pt idx="7">
                  <c:v>1.3</c:v>
                </c:pt>
              </c:numCache>
            </c:numRef>
          </c:val>
        </c:ser>
        <c:dLbls>
          <c:numFmt formatCode="0.0" sourceLinked="0"/>
          <c:txPr>
            <a:bodyPr/>
            <a:lstStyle/>
            <a:p>
              <a:pPr>
                <a:defRPr b="0" i="0" strike="noStrike" sz="1200" u="none">
                  <a:solidFill>
                    <a:srgbClr val="1B24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28"/>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D9E6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an advanced genome disorder prediction model powered by deep learning. We call the system GeneScope. It predicts which genetic disease a patient most likely has, using blood tests and genetic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Genetic diseases are common, but they are often diagnosed late. A doctor has to look at many blood values and genetic markers together. Our idea is to support early screening with a model that gives a fast first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four objectives: use a clean dataset, build a deep learning model, compare it fairly with classic machine-learning models, and make it usable through a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worked on the original dataset of about 22,000 records. After analysis we found most columns were random, so even the best honest model reached only 62 percent. So we moved to a cleaner genetic disease dataset and built a deep learning model, which reached 96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Genetic Disease Prediction Dataset from Kaggle. It has 1,000 patients, 5 genetic diseases with 200 patients each, and 12 input features from blood tests and genetic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real rows from the dataset. Each row is one patient. The 12 inputs fall into four groups: patient details, blood tests, genetic markers and other tests. The last column is the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predicts five genetic diseases. Each has a typical sign in the data: thalassemia shows low hemoglobin and high fetal hemoglobin, breast cancer shows high BRCA1 and p53 mutation, sickle cell shows sickled red cells, and cystic fibrosis shows high sweat chloride.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six steps: data ingestion, validation, preprocessing with an 80/20 split, training, evaluation on unseen patients, and finally a web app. Everything is written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deep learning model is a fully connected neural network built with PyTorch. It has three hidden layers of 128, 64 and 32 neurons, each with batch normalisation, ReLU activation and dropout. The output layer gives a probability for each of the five diseases. It is trained with the Adam optimizer and early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the neural network with five machine-learning models using 5-fold cross-validation. All models are close, around 94 to 95 percent, which shows the dataset is clean. The neural network was selected because it gives the most reliable probabilities, and it reached 96 percent on the unseen test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200 patients the model never saw, it reached 96 percent accuracy, an F1 score of 0.96 and an AUC of 0.979. The correct disease is in its top two answers 97.5 percent of the time. Random guessing would only get about 20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diseases score between 95 and 96 percent F1. The confusion matrix shows 192 of the 200 test patients were classified correctly; only 8 were mixed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what the model relies on, we shuffled each test and measured the drop in accuracy. The most important tests are exactly the known medical markers: sickled red cells, BRCA1 and sweat chloride. So the model learned real medical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web app. The user enters the lab results, and the app shows the predicted disease, a short explanation, a confidence score and the probability for every disease. There is also a batch page to upload many patients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also has a performance page showing all the results live: accuracy, F1, AUC, accuracy by confidence level and results for each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limitations are that the dataset is synthetic and small, and the model cannot say a patient is healthy. In future we would like to use real hospital data, add a healthy class and more diseases, and try DNA sequence data with deeper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by moving to a clean dataset and building a deep learning model, we predict five genetic diseases with 96 percent accuracy on unseen patients, and we built a working web app around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E3B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Title</a:t>
            </a:r>
            <a:endParaRPr lang="en-US" sz="4000" dirty="0"/>
          </a:p>
        </p:txBody>
      </p:sp>
      <p:sp>
        <p:nvSpPr>
          <p:cNvPr id="3" name="Text 0"/>
          <p:cNvSpPr/>
          <p:nvPr>
            <p:ph idx="101" type="body" hasCustomPrompt="1"/>
          </p:nvPr>
        </p:nvSpPr>
        <p:spPr>
          <a:xfrm>
            <a:off x="731520" y="3886200"/>
            <a:ext cx="7680960" cy="914400"/>
          </a:xfrm>
          <a:prstGeom prst="rect">
            <a:avLst/>
          </a:prstGeom>
          <a:noFill/>
          <a:ln/>
        </p:spPr>
        <p:txBody>
          <a:bodyPr wrap="square" rtlCol="0"/>
          <a:lstStyle>
            <a:lvl1pPr algn="l" indent="0" marL="0">
              <a:buNone/>
              <a:defRPr lang="en-US" sz="1800" dirty="0">
                <a:solidFill>
                  <a:srgbClr val="B9DCD8"/>
                </a:solidFill>
              </a:defRPr>
            </a:lvl1pPr>
          </a:lstStyle>
          <a:p>
            <a:pPr algn="l" indent="0" marL="0">
              <a:buNone/>
            </a:pPr>
            <a:r>
              <a:rPr lang="en-US" sz="1800" dirty="0">
                <a:solidFill>
                  <a:srgbClr val="B9DCD8"/>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defRPr>
            </a:lvl1pPr>
          </a:lstStyle>
          <a:p>
            <a:pPr indent="0" marL="0">
              <a:buNone/>
            </a:pPr>
            <a:r>
              <a:rPr lang="en-US" sz="3200" b="1" dirty="0">
                <a:solidFill>
                  <a:schemeClr val="tx2"/>
                </a:solidFill>
              </a:rPr>
              <a:t>Title</a:t>
            </a: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0"/>
                </a:solidFill>
              </a:rPr>
              <a:t>GeneScope · Genome Disorder Prediction with Deep Learning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ark">
    <p:bg>
      <p:bgPr>
        <a:solidFill>
          <a:srgbClr val="0E3B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r>
              <a:rPr lang="en-US" sz="3200" b="1" dirty="0">
                <a:solidFill>
                  <a:schemeClr val="bg1"/>
                </a:solidFill>
              </a:rPr>
              <a:t>Title</a:t>
            </a: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C7C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3-1.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828800"/>
          </a:xfrm>
          <a:prstGeom prst="rect">
            <a:avLst/>
          </a:prstGeom>
          <a:noFill/>
          <a:ln/>
        </p:spPr>
        <p:txBody>
          <a:bodyPr wrap="square" lIns="0" tIns="0" rIns="0" bIns="0" rtlCol="0" anchor="b"/>
          <a:lstStyle/>
          <a:p>
            <a:pPr algn="l" indent="0" marL="0">
              <a:buNone/>
            </a:pPr>
            <a:r>
              <a:rPr lang="en-US" sz="4000" b="1" dirty="0">
                <a:solidFill>
                  <a:schemeClr val="bg1"/>
                </a:solidFill>
              </a:rPr>
              <a:t>Advance Genome Disorder Prediction Model Empowered With Deep Learning</a:t>
            </a:r>
            <a:endParaRPr lang="en-US" sz="4000" dirty="0"/>
          </a:p>
        </p:txBody>
      </p:sp>
      <p:sp>
        <p:nvSpPr>
          <p:cNvPr id="3" name="Text 0"/>
          <p:cNvSpPr/>
          <p:nvPr>
            <p:ph idx="101" type="body" hasCustomPrompt="1"/>
          </p:nvPr>
        </p:nvSpPr>
        <p:spPr>
          <a:xfrm>
            <a:off x="731520" y="3886200"/>
            <a:ext cx="7680960" cy="914400"/>
          </a:xfrm>
          <a:prstGeom prst="rect">
            <a:avLst/>
          </a:prstGeom>
          <a:noFill/>
          <a:ln/>
        </p:spPr>
        <p:txBody>
          <a:bodyPr wrap="square" lIns="0" tIns="0" rIns="0" bIns="0" rtlCol="0" anchor="t"/>
          <a:lstStyle/>
          <a:p>
            <a:pPr algn="l" indent="0" marL="0">
              <a:buNone/>
            </a:pPr>
            <a:r>
              <a:rPr lang="en-US" sz="1800" dirty="0">
                <a:solidFill>
                  <a:srgbClr val="B9DCD8"/>
                </a:solidFill>
              </a:rPr>
              <a:t>GeneScope: predicting genetic diseases from lab tests and genetic markers</a:t>
            </a:r>
            <a:endParaRPr lang="en-US" sz="1800" dirty="0"/>
          </a:p>
        </p:txBody>
      </p:sp>
      <p:sp>
        <p:nvSpPr>
          <p:cNvPr id="4" name="Text 2"/>
          <p:cNvSpPr txBox="1"/>
          <p:nvPr/>
        </p:nvSpPr>
        <p:spPr>
          <a:xfrm>
            <a:off x="731520" y="5212080"/>
            <a:ext cx="5486400" cy="320040"/>
          </a:xfrm>
          <a:prstGeom prst="rect">
            <a:avLst/>
          </a:prstGeom>
          <a:noFill/>
          <a:ln/>
        </p:spPr>
        <p:txBody>
          <a:bodyPr wrap="square" lIns="0" tIns="0" rIns="0" bIns="0" rtlCol="0" anchor="ctr"/>
          <a:lstStyle/>
          <a:p>
            <a:pPr indent="0" marL="0">
              <a:buNone/>
            </a:pPr>
            <a:r>
              <a:rPr lang="en-US" sz="1500" b="1" dirty="0">
                <a:solidFill>
                  <a:srgbClr val="FFFFFF"/>
                </a:solidFill>
              </a:rPr>
              <a:t>Presented by: </a:t>
            </a:r>
            <a:pPr indent="0" marL="0">
              <a:buNone/>
            </a:pPr>
            <a:r>
              <a:rPr lang="en-US" sz="1500" dirty="0">
                <a:solidFill>
                  <a:srgbClr val="FFFFFF"/>
                </a:solidFill>
              </a:rPr>
              <a:t>Your Name</a:t>
            </a:r>
            <a:endParaRPr lang="en-US" sz="1500" dirty="0"/>
          </a:p>
        </p:txBody>
      </p:sp>
      <p:sp>
        <p:nvSpPr>
          <p:cNvPr id="5" name="Text 3"/>
          <p:cNvSpPr txBox="1"/>
          <p:nvPr/>
        </p:nvSpPr>
        <p:spPr>
          <a:xfrm>
            <a:off x="731520" y="5577840"/>
            <a:ext cx="5486400" cy="320040"/>
          </a:xfrm>
          <a:prstGeom prst="rect">
            <a:avLst/>
          </a:prstGeom>
          <a:noFill/>
          <a:ln/>
        </p:spPr>
        <p:txBody>
          <a:bodyPr wrap="square" lIns="0" tIns="0" rIns="0" bIns="0" rtlCol="0" anchor="ctr"/>
          <a:lstStyle/>
          <a:p>
            <a:pPr indent="0" marL="0">
              <a:buNone/>
            </a:pPr>
            <a:r>
              <a:rPr lang="en-US" sz="1500" b="1" dirty="0">
                <a:solidFill>
                  <a:srgbClr val="FFFFFF"/>
                </a:solidFill>
              </a:rPr>
              <a:t>Guide: </a:t>
            </a:r>
            <a:pPr indent="0" marL="0">
              <a:buNone/>
            </a:pPr>
            <a:r>
              <a:rPr lang="en-US" sz="1500" dirty="0">
                <a:solidFill>
                  <a:srgbClr val="FFFFFF"/>
                </a:solidFill>
              </a:rPr>
              <a:t>Supervisor Name</a:t>
            </a:r>
            <a:endParaRPr lang="en-US" sz="1500" dirty="0"/>
          </a:p>
        </p:txBody>
      </p:sp>
      <p:sp>
        <p:nvSpPr>
          <p:cNvPr id="6" name="dna circle"/>
          <p:cNvSpPr/>
          <p:nvPr/>
        </p:nvSpPr>
        <p:spPr>
          <a:xfrm>
            <a:off x="8732520" y="1417320"/>
            <a:ext cx="2926080" cy="2926080"/>
          </a:xfrm>
          <a:prstGeom prst="ellipse">
            <a:avLst/>
          </a:prstGeom>
          <a:solidFill>
            <a:srgbClr val="135052"/>
          </a:solidFill>
          <a:ln w="12700">
            <a:solidFill>
              <a:srgbClr val="135052"/>
            </a:solidFill>
            <a:prstDash val="solid"/>
          </a:ln>
        </p:spPr>
      </p:sp>
      <p:pic>
        <p:nvPicPr>
          <p:cNvPr id="7" name="dna icon" descr="preencoded.png">    </p:cNvPr>
          <p:cNvPicPr>
            <a:picLocks noChangeAspect="1"/>
          </p:cNvPicPr>
          <p:nvPr/>
        </p:nvPicPr>
        <p:blipFill>
          <a:blip r:embed="rId1"/>
          <a:stretch>
            <a:fillRect/>
          </a:stretch>
        </p:blipFill>
        <p:spPr>
          <a:xfrm>
            <a:off x="9372600" y="205740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Problem statement</a:t>
            </a:r>
            <a:endParaRPr lang="en-US" sz="3200" dirty="0"/>
          </a:p>
        </p:txBody>
      </p:sp>
      <p:sp>
        <p:nvSpPr>
          <p:cNvPr id="3" name="card"/>
          <p:cNvSpPr/>
          <p:nvPr/>
        </p:nvSpPr>
        <p:spPr>
          <a:xfrm>
            <a:off x="548640" y="1463040"/>
            <a:ext cx="3474720" cy="3657600"/>
          </a:xfrm>
          <a:prstGeom prst="roundRect">
            <a:avLst>
              <a:gd name="adj" fmla="val 3158"/>
            </a:avLst>
          </a:prstGeom>
          <a:solidFill>
            <a:srgbClr val="EEF6F5"/>
          </a:solidFill>
          <a:ln w="12700">
            <a:solidFill>
              <a:srgbClr val="EEF6F5"/>
            </a:solidFill>
            <a:prstDash val="solid"/>
          </a:ln>
        </p:spPr>
      </p:sp>
      <p:sp>
        <p:nvSpPr>
          <p:cNvPr id="4" name="problem icon 1 circle"/>
          <p:cNvSpPr/>
          <p:nvPr/>
        </p:nvSpPr>
        <p:spPr>
          <a:xfrm>
            <a:off x="868680" y="1783080"/>
            <a:ext cx="822960" cy="822960"/>
          </a:xfrm>
          <a:prstGeom prst="ellipse">
            <a:avLst/>
          </a:prstGeom>
          <a:solidFill>
            <a:srgbClr val="13A89E"/>
          </a:solidFill>
          <a:ln w="12700">
            <a:solidFill>
              <a:srgbClr val="13A89E"/>
            </a:solidFill>
            <a:prstDash val="solid"/>
          </a:ln>
        </p:spPr>
      </p:sp>
      <p:pic>
        <p:nvPicPr>
          <p:cNvPr id="5" name="problem icon 1" descr="preencoded.png">    </p:cNvPr>
          <p:cNvPicPr>
            <a:picLocks noChangeAspect="1"/>
          </p:cNvPicPr>
          <p:nvPr/>
        </p:nvPicPr>
        <p:blipFill>
          <a:blip r:embed="rId1"/>
          <a:stretch>
            <a:fillRect/>
          </a:stretch>
        </p:blipFill>
        <p:spPr>
          <a:xfrm>
            <a:off x="1074420" y="1988820"/>
            <a:ext cx="411480" cy="411480"/>
          </a:xfrm>
          <a:prstGeom prst="rect">
            <a:avLst/>
          </a:prstGeom>
        </p:spPr>
      </p:pic>
      <p:sp>
        <p:nvSpPr>
          <p:cNvPr id="6" name="Text 3"/>
          <p:cNvSpPr txBox="1"/>
          <p:nvPr/>
        </p:nvSpPr>
        <p:spPr>
          <a:xfrm>
            <a:off x="868680" y="2834640"/>
            <a:ext cx="2834640" cy="731520"/>
          </a:xfrm>
          <a:prstGeom prst="rect">
            <a:avLst/>
          </a:prstGeom>
          <a:noFill/>
          <a:ln/>
        </p:spPr>
        <p:txBody>
          <a:bodyPr wrap="square" lIns="0" tIns="0" rIns="0" bIns="0" rtlCol="0" anchor="t"/>
          <a:lstStyle/>
          <a:p>
            <a:pPr indent="0" marL="0">
              <a:buNone/>
            </a:pPr>
            <a:r>
              <a:rPr lang="en-US" sz="1900" b="1" dirty="0">
                <a:solidFill>
                  <a:srgbClr val="0E3B3D"/>
                </a:solidFill>
              </a:rPr>
              <a:t>Genetic diseases are common</a:t>
            </a:r>
            <a:endParaRPr lang="en-US" sz="1900" dirty="0"/>
          </a:p>
        </p:txBody>
      </p:sp>
      <p:sp>
        <p:nvSpPr>
          <p:cNvPr id="7" name="Text 4"/>
          <p:cNvSpPr txBox="1"/>
          <p:nvPr/>
        </p:nvSpPr>
        <p:spPr>
          <a:xfrm>
            <a:off x="868680" y="3611880"/>
            <a:ext cx="2834640" cy="1828800"/>
          </a:xfrm>
          <a:prstGeom prst="rect">
            <a:avLst/>
          </a:prstGeom>
          <a:noFill/>
          <a:ln/>
        </p:spPr>
        <p:txBody>
          <a:bodyPr wrap="square" lIns="0" tIns="0" rIns="0" bIns="0" rtlCol="0" anchor="t"/>
          <a:lstStyle/>
          <a:p>
            <a:pPr indent="0" marL="0">
              <a:buNone/>
            </a:pPr>
            <a:r>
              <a:rPr lang="en-US" sz="1500" dirty="0">
                <a:solidFill>
                  <a:srgbClr val="1B2428"/>
                </a:solidFill>
              </a:rPr>
              <a:t>Thalassemia, sickle cell and cystic fibrosis affect millions of people and are often found late.</a:t>
            </a:r>
            <a:endParaRPr lang="en-US" sz="1500" dirty="0"/>
          </a:p>
        </p:txBody>
      </p:sp>
      <p:sp>
        <p:nvSpPr>
          <p:cNvPr id="8" name="card"/>
          <p:cNvSpPr/>
          <p:nvPr/>
        </p:nvSpPr>
        <p:spPr>
          <a:xfrm>
            <a:off x="4297680" y="1463040"/>
            <a:ext cx="3474720" cy="3657600"/>
          </a:xfrm>
          <a:prstGeom prst="roundRect">
            <a:avLst>
              <a:gd name="adj" fmla="val 3158"/>
            </a:avLst>
          </a:prstGeom>
          <a:solidFill>
            <a:srgbClr val="EEF6F5"/>
          </a:solidFill>
          <a:ln w="12700">
            <a:solidFill>
              <a:srgbClr val="EEF6F5"/>
            </a:solidFill>
            <a:prstDash val="solid"/>
          </a:ln>
        </p:spPr>
      </p:sp>
      <p:sp>
        <p:nvSpPr>
          <p:cNvPr id="9" name="problem icon 2 circle"/>
          <p:cNvSpPr/>
          <p:nvPr/>
        </p:nvSpPr>
        <p:spPr>
          <a:xfrm>
            <a:off x="4617720" y="1783080"/>
            <a:ext cx="822960" cy="822960"/>
          </a:xfrm>
          <a:prstGeom prst="ellipse">
            <a:avLst/>
          </a:prstGeom>
          <a:solidFill>
            <a:srgbClr val="13A89E"/>
          </a:solidFill>
          <a:ln w="12700">
            <a:solidFill>
              <a:srgbClr val="13A89E"/>
            </a:solidFill>
            <a:prstDash val="solid"/>
          </a:ln>
        </p:spPr>
      </p:sp>
      <p:pic>
        <p:nvPicPr>
          <p:cNvPr id="10" name="problem icon 2" descr="preencoded.png">    </p:cNvPr>
          <p:cNvPicPr>
            <a:picLocks noChangeAspect="1"/>
          </p:cNvPicPr>
          <p:nvPr/>
        </p:nvPicPr>
        <p:blipFill>
          <a:blip r:embed="rId2"/>
          <a:stretch>
            <a:fillRect/>
          </a:stretch>
        </p:blipFill>
        <p:spPr>
          <a:xfrm>
            <a:off x="4823460" y="1988820"/>
            <a:ext cx="411480" cy="411480"/>
          </a:xfrm>
          <a:prstGeom prst="rect">
            <a:avLst/>
          </a:prstGeom>
        </p:spPr>
      </p:pic>
      <p:sp>
        <p:nvSpPr>
          <p:cNvPr id="11" name="Text 7"/>
          <p:cNvSpPr txBox="1"/>
          <p:nvPr/>
        </p:nvSpPr>
        <p:spPr>
          <a:xfrm>
            <a:off x="4617720" y="2834640"/>
            <a:ext cx="2834640" cy="731520"/>
          </a:xfrm>
          <a:prstGeom prst="rect">
            <a:avLst/>
          </a:prstGeom>
          <a:noFill/>
          <a:ln/>
        </p:spPr>
        <p:txBody>
          <a:bodyPr wrap="square" lIns="0" tIns="0" rIns="0" bIns="0" rtlCol="0" anchor="t"/>
          <a:lstStyle/>
          <a:p>
            <a:pPr indent="0" marL="0">
              <a:buNone/>
            </a:pPr>
            <a:r>
              <a:rPr lang="en-US" sz="1900" b="1" dirty="0">
                <a:solidFill>
                  <a:srgbClr val="0E3B3D"/>
                </a:solidFill>
              </a:rPr>
              <a:t>Many tests, hard to read together</a:t>
            </a:r>
            <a:endParaRPr lang="en-US" sz="1900" dirty="0"/>
          </a:p>
        </p:txBody>
      </p:sp>
      <p:sp>
        <p:nvSpPr>
          <p:cNvPr id="12" name="Text 8"/>
          <p:cNvSpPr txBox="1"/>
          <p:nvPr/>
        </p:nvSpPr>
        <p:spPr>
          <a:xfrm>
            <a:off x="4617720" y="3611880"/>
            <a:ext cx="2834640" cy="1828800"/>
          </a:xfrm>
          <a:prstGeom prst="rect">
            <a:avLst/>
          </a:prstGeom>
          <a:noFill/>
          <a:ln/>
        </p:spPr>
        <p:txBody>
          <a:bodyPr wrap="square" lIns="0" tIns="0" rIns="0" bIns="0" rtlCol="0" anchor="t"/>
          <a:lstStyle/>
          <a:p>
            <a:pPr indent="0" marL="0">
              <a:buNone/>
            </a:pPr>
            <a:r>
              <a:rPr lang="en-US" sz="1500" dirty="0">
                <a:solidFill>
                  <a:srgbClr val="1B2428"/>
                </a:solidFill>
              </a:rPr>
              <a:t>Doctors must combine blood values and genetic markers by hand to reach a diagnosis.</a:t>
            </a:r>
            <a:endParaRPr lang="en-US" sz="1500" dirty="0"/>
          </a:p>
        </p:txBody>
      </p:sp>
      <p:sp>
        <p:nvSpPr>
          <p:cNvPr id="13" name="card"/>
          <p:cNvSpPr/>
          <p:nvPr/>
        </p:nvSpPr>
        <p:spPr>
          <a:xfrm>
            <a:off x="8046720" y="1463040"/>
            <a:ext cx="3474720" cy="3657600"/>
          </a:xfrm>
          <a:prstGeom prst="roundRect">
            <a:avLst>
              <a:gd name="adj" fmla="val 3158"/>
            </a:avLst>
          </a:prstGeom>
          <a:solidFill>
            <a:srgbClr val="EEF6F5"/>
          </a:solidFill>
          <a:ln w="12700">
            <a:solidFill>
              <a:srgbClr val="EEF6F5"/>
            </a:solidFill>
            <a:prstDash val="solid"/>
          </a:ln>
        </p:spPr>
      </p:sp>
      <p:sp>
        <p:nvSpPr>
          <p:cNvPr id="14" name="problem icon 3 circle"/>
          <p:cNvSpPr/>
          <p:nvPr/>
        </p:nvSpPr>
        <p:spPr>
          <a:xfrm>
            <a:off x="8366760" y="1783080"/>
            <a:ext cx="822960" cy="822960"/>
          </a:xfrm>
          <a:prstGeom prst="ellipse">
            <a:avLst/>
          </a:prstGeom>
          <a:solidFill>
            <a:srgbClr val="13A89E"/>
          </a:solidFill>
          <a:ln w="12700">
            <a:solidFill>
              <a:srgbClr val="13A89E"/>
            </a:solidFill>
            <a:prstDash val="solid"/>
          </a:ln>
        </p:spPr>
      </p:sp>
      <p:pic>
        <p:nvPicPr>
          <p:cNvPr id="15" name="problem icon 3" descr="preencoded.png">    </p:cNvPr>
          <p:cNvPicPr>
            <a:picLocks noChangeAspect="1"/>
          </p:cNvPicPr>
          <p:nvPr/>
        </p:nvPicPr>
        <p:blipFill>
          <a:blip r:embed="rId3"/>
          <a:stretch>
            <a:fillRect/>
          </a:stretch>
        </p:blipFill>
        <p:spPr>
          <a:xfrm>
            <a:off x="8572500" y="1988820"/>
            <a:ext cx="411480" cy="411480"/>
          </a:xfrm>
          <a:prstGeom prst="rect">
            <a:avLst/>
          </a:prstGeom>
        </p:spPr>
      </p:pic>
      <p:sp>
        <p:nvSpPr>
          <p:cNvPr id="16" name="Text 11"/>
          <p:cNvSpPr txBox="1"/>
          <p:nvPr/>
        </p:nvSpPr>
        <p:spPr>
          <a:xfrm>
            <a:off x="8366760" y="2834640"/>
            <a:ext cx="2834640" cy="731520"/>
          </a:xfrm>
          <a:prstGeom prst="rect">
            <a:avLst/>
          </a:prstGeom>
          <a:noFill/>
          <a:ln/>
        </p:spPr>
        <p:txBody>
          <a:bodyPr wrap="square" lIns="0" tIns="0" rIns="0" bIns="0" rtlCol="0" anchor="t"/>
          <a:lstStyle/>
          <a:p>
            <a:pPr indent="0" marL="0">
              <a:buNone/>
            </a:pPr>
            <a:r>
              <a:rPr lang="en-US" sz="1900" b="1" dirty="0">
                <a:solidFill>
                  <a:srgbClr val="0E3B3D"/>
                </a:solidFill>
              </a:rPr>
              <a:t>Early screening saves time</a:t>
            </a:r>
            <a:endParaRPr lang="en-US" sz="1900" dirty="0"/>
          </a:p>
        </p:txBody>
      </p:sp>
      <p:sp>
        <p:nvSpPr>
          <p:cNvPr id="17" name="Text 12"/>
          <p:cNvSpPr txBox="1"/>
          <p:nvPr/>
        </p:nvSpPr>
        <p:spPr>
          <a:xfrm>
            <a:off x="8366760" y="3611880"/>
            <a:ext cx="2834640" cy="1828800"/>
          </a:xfrm>
          <a:prstGeom prst="rect">
            <a:avLst/>
          </a:prstGeom>
          <a:noFill/>
          <a:ln/>
        </p:spPr>
        <p:txBody>
          <a:bodyPr wrap="square" lIns="0" tIns="0" rIns="0" bIns="0" rtlCol="0" anchor="t"/>
          <a:lstStyle/>
          <a:p>
            <a:pPr indent="0" marL="0">
              <a:buNone/>
            </a:pPr>
            <a:r>
              <a:rPr lang="en-US" sz="1500" dirty="0">
                <a:solidFill>
                  <a:srgbClr val="1B2428"/>
                </a:solidFill>
              </a:rPr>
              <a:t>A fast first estimate helps decide which confirmatory test to order next.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Project objectives</a:t>
            </a:r>
            <a:endParaRPr lang="en-US" sz="3200" dirty="0"/>
          </a:p>
        </p:txBody>
      </p:sp>
      <p:sp>
        <p:nvSpPr>
          <p:cNvPr id="3" name="objective icon 1 circle"/>
          <p:cNvSpPr/>
          <p:nvPr/>
        </p:nvSpPr>
        <p:spPr>
          <a:xfrm>
            <a:off x="731520" y="1417320"/>
            <a:ext cx="777240" cy="777240"/>
          </a:xfrm>
          <a:prstGeom prst="ellipse">
            <a:avLst/>
          </a:prstGeom>
          <a:solidFill>
            <a:srgbClr val="13A89E"/>
          </a:solidFill>
          <a:ln w="12700">
            <a:solidFill>
              <a:srgbClr val="13A89E"/>
            </a:solidFill>
            <a:prstDash val="solid"/>
          </a:ln>
        </p:spPr>
      </p:sp>
      <p:pic>
        <p:nvPicPr>
          <p:cNvPr id="4" name="objective icon 1" descr="preencoded.png">    </p:cNvPr>
          <p:cNvPicPr>
            <a:picLocks noChangeAspect="1"/>
          </p:cNvPicPr>
          <p:nvPr/>
        </p:nvPicPr>
        <p:blipFill>
          <a:blip r:embed="rId1"/>
          <a:stretch>
            <a:fillRect/>
          </a:stretch>
        </p:blipFill>
        <p:spPr>
          <a:xfrm>
            <a:off x="925830" y="1611630"/>
            <a:ext cx="388620" cy="388620"/>
          </a:xfrm>
          <a:prstGeom prst="rect">
            <a:avLst/>
          </a:prstGeom>
        </p:spPr>
      </p:pic>
      <p:sp>
        <p:nvSpPr>
          <p:cNvPr id="5" name="Text 2"/>
          <p:cNvSpPr txBox="1"/>
          <p:nvPr/>
        </p:nvSpPr>
        <p:spPr>
          <a:xfrm>
            <a:off x="1783080" y="1435608"/>
            <a:ext cx="5669280" cy="411480"/>
          </a:xfrm>
          <a:prstGeom prst="rect">
            <a:avLst/>
          </a:prstGeom>
          <a:noFill/>
          <a:ln/>
        </p:spPr>
        <p:txBody>
          <a:bodyPr wrap="square" lIns="0" tIns="0" rIns="0" bIns="0" rtlCol="0" anchor="ctr"/>
          <a:lstStyle/>
          <a:p>
            <a:pPr indent="0" marL="0">
              <a:buNone/>
            </a:pPr>
            <a:r>
              <a:rPr lang="en-US" sz="1900" b="1" dirty="0">
                <a:solidFill>
                  <a:srgbClr val="0E3B3D"/>
                </a:solidFill>
              </a:rPr>
              <a:t>Use a clean genetic disease dataset</a:t>
            </a:r>
            <a:endParaRPr lang="en-US" sz="1900" dirty="0"/>
          </a:p>
        </p:txBody>
      </p:sp>
      <p:sp>
        <p:nvSpPr>
          <p:cNvPr id="6" name="Text 3"/>
          <p:cNvSpPr txBox="1"/>
          <p:nvPr/>
        </p:nvSpPr>
        <p:spPr>
          <a:xfrm>
            <a:off x="1783080" y="1828800"/>
            <a:ext cx="5669280" cy="411480"/>
          </a:xfrm>
          <a:prstGeom prst="rect">
            <a:avLst/>
          </a:prstGeom>
          <a:noFill/>
          <a:ln/>
        </p:spPr>
        <p:txBody>
          <a:bodyPr wrap="square" lIns="0" tIns="0" rIns="0" bIns="0" rtlCol="0" anchor="ctr"/>
          <a:lstStyle/>
          <a:p>
            <a:pPr indent="0" marL="0">
              <a:buNone/>
            </a:pPr>
            <a:r>
              <a:rPr lang="en-US" sz="1500" dirty="0">
                <a:solidFill>
                  <a:srgbClr val="5B6B70"/>
                </a:solidFill>
              </a:rPr>
              <a:t>Patients with lab results and genetic markers for 5 diseases</a:t>
            </a:r>
            <a:endParaRPr lang="en-US" sz="1500" dirty="0"/>
          </a:p>
        </p:txBody>
      </p:sp>
      <p:sp>
        <p:nvSpPr>
          <p:cNvPr id="7" name="objective icon 2 circle"/>
          <p:cNvSpPr/>
          <p:nvPr/>
        </p:nvSpPr>
        <p:spPr>
          <a:xfrm>
            <a:off x="731520" y="2606040"/>
            <a:ext cx="777240" cy="777240"/>
          </a:xfrm>
          <a:prstGeom prst="ellipse">
            <a:avLst/>
          </a:prstGeom>
          <a:solidFill>
            <a:srgbClr val="13A89E"/>
          </a:solidFill>
          <a:ln w="12700">
            <a:solidFill>
              <a:srgbClr val="13A89E"/>
            </a:solidFill>
            <a:prstDash val="solid"/>
          </a:ln>
        </p:spPr>
      </p:sp>
      <p:pic>
        <p:nvPicPr>
          <p:cNvPr id="8" name="objective icon 2" descr="preencoded.png">    </p:cNvPr>
          <p:cNvPicPr>
            <a:picLocks noChangeAspect="1"/>
          </p:cNvPicPr>
          <p:nvPr/>
        </p:nvPicPr>
        <p:blipFill>
          <a:blip r:embed="rId2"/>
          <a:stretch>
            <a:fillRect/>
          </a:stretch>
        </p:blipFill>
        <p:spPr>
          <a:xfrm>
            <a:off x="925830" y="2800350"/>
            <a:ext cx="388620" cy="388620"/>
          </a:xfrm>
          <a:prstGeom prst="rect">
            <a:avLst/>
          </a:prstGeom>
        </p:spPr>
      </p:pic>
      <p:sp>
        <p:nvSpPr>
          <p:cNvPr id="9" name="Text 5"/>
          <p:cNvSpPr txBox="1"/>
          <p:nvPr/>
        </p:nvSpPr>
        <p:spPr>
          <a:xfrm>
            <a:off x="1783080" y="2624328"/>
            <a:ext cx="5669280" cy="411480"/>
          </a:xfrm>
          <a:prstGeom prst="rect">
            <a:avLst/>
          </a:prstGeom>
          <a:noFill/>
          <a:ln/>
        </p:spPr>
        <p:txBody>
          <a:bodyPr wrap="square" lIns="0" tIns="0" rIns="0" bIns="0" rtlCol="0" anchor="ctr"/>
          <a:lstStyle/>
          <a:p>
            <a:pPr indent="0" marL="0">
              <a:buNone/>
            </a:pPr>
            <a:r>
              <a:rPr lang="en-US" sz="1900" b="1" dirty="0">
                <a:solidFill>
                  <a:srgbClr val="0E3B3D"/>
                </a:solidFill>
              </a:rPr>
              <a:t>Build a deep learning model</a:t>
            </a:r>
            <a:endParaRPr lang="en-US" sz="1900" dirty="0"/>
          </a:p>
        </p:txBody>
      </p:sp>
      <p:sp>
        <p:nvSpPr>
          <p:cNvPr id="10" name="Text 6"/>
          <p:cNvSpPr txBox="1"/>
          <p:nvPr/>
        </p:nvSpPr>
        <p:spPr>
          <a:xfrm>
            <a:off x="1783080" y="3017520"/>
            <a:ext cx="5669280" cy="411480"/>
          </a:xfrm>
          <a:prstGeom prst="rect">
            <a:avLst/>
          </a:prstGeom>
          <a:noFill/>
          <a:ln/>
        </p:spPr>
        <p:txBody>
          <a:bodyPr wrap="square" lIns="0" tIns="0" rIns="0" bIns="0" rtlCol="0" anchor="ctr"/>
          <a:lstStyle/>
          <a:p>
            <a:pPr indent="0" marL="0">
              <a:buNone/>
            </a:pPr>
            <a:r>
              <a:rPr lang="en-US" sz="1500" dirty="0">
                <a:solidFill>
                  <a:srgbClr val="5B6B70"/>
                </a:solidFill>
              </a:rPr>
              <a:t>A neural network that learns the pattern of each disease</a:t>
            </a:r>
            <a:endParaRPr lang="en-US" sz="1500" dirty="0"/>
          </a:p>
        </p:txBody>
      </p:sp>
      <p:sp>
        <p:nvSpPr>
          <p:cNvPr id="11" name="objective icon 3 circle"/>
          <p:cNvSpPr/>
          <p:nvPr/>
        </p:nvSpPr>
        <p:spPr>
          <a:xfrm>
            <a:off x="731520" y="3794760"/>
            <a:ext cx="777240" cy="777240"/>
          </a:xfrm>
          <a:prstGeom prst="ellipse">
            <a:avLst/>
          </a:prstGeom>
          <a:solidFill>
            <a:srgbClr val="13A89E"/>
          </a:solidFill>
          <a:ln w="12700">
            <a:solidFill>
              <a:srgbClr val="13A89E"/>
            </a:solidFill>
            <a:prstDash val="solid"/>
          </a:ln>
        </p:spPr>
      </p:sp>
      <p:pic>
        <p:nvPicPr>
          <p:cNvPr id="12" name="objective icon 3" descr="preencoded.png">    </p:cNvPr>
          <p:cNvPicPr>
            <a:picLocks noChangeAspect="1"/>
          </p:cNvPicPr>
          <p:nvPr/>
        </p:nvPicPr>
        <p:blipFill>
          <a:blip r:embed="rId3"/>
          <a:stretch>
            <a:fillRect/>
          </a:stretch>
        </p:blipFill>
        <p:spPr>
          <a:xfrm>
            <a:off x="925830" y="3989070"/>
            <a:ext cx="388620" cy="388620"/>
          </a:xfrm>
          <a:prstGeom prst="rect">
            <a:avLst/>
          </a:prstGeom>
        </p:spPr>
      </p:pic>
      <p:sp>
        <p:nvSpPr>
          <p:cNvPr id="13" name="Text 8"/>
          <p:cNvSpPr txBox="1"/>
          <p:nvPr/>
        </p:nvSpPr>
        <p:spPr>
          <a:xfrm>
            <a:off x="1783080" y="3813048"/>
            <a:ext cx="5669280" cy="411480"/>
          </a:xfrm>
          <a:prstGeom prst="rect">
            <a:avLst/>
          </a:prstGeom>
          <a:noFill/>
          <a:ln/>
        </p:spPr>
        <p:txBody>
          <a:bodyPr wrap="square" lIns="0" tIns="0" rIns="0" bIns="0" rtlCol="0" anchor="ctr"/>
          <a:lstStyle/>
          <a:p>
            <a:pPr indent="0" marL="0">
              <a:buNone/>
            </a:pPr>
            <a:r>
              <a:rPr lang="en-US" sz="1900" b="1" dirty="0">
                <a:solidFill>
                  <a:srgbClr val="0E3B3D"/>
                </a:solidFill>
              </a:rPr>
              <a:t>Compare it fairly</a:t>
            </a:r>
            <a:endParaRPr lang="en-US" sz="1900" dirty="0"/>
          </a:p>
        </p:txBody>
      </p:sp>
      <p:sp>
        <p:nvSpPr>
          <p:cNvPr id="14" name="Text 9"/>
          <p:cNvSpPr txBox="1"/>
          <p:nvPr/>
        </p:nvSpPr>
        <p:spPr>
          <a:xfrm>
            <a:off x="1783080" y="4206240"/>
            <a:ext cx="5669280" cy="411480"/>
          </a:xfrm>
          <a:prstGeom prst="rect">
            <a:avLst/>
          </a:prstGeom>
          <a:noFill/>
          <a:ln/>
        </p:spPr>
        <p:txBody>
          <a:bodyPr wrap="square" lIns="0" tIns="0" rIns="0" bIns="0" rtlCol="0" anchor="ctr"/>
          <a:lstStyle/>
          <a:p>
            <a:pPr indent="0" marL="0">
              <a:buNone/>
            </a:pPr>
            <a:r>
              <a:rPr lang="en-US" sz="1500" dirty="0">
                <a:solidFill>
                  <a:srgbClr val="5B6B70"/>
                </a:solidFill>
              </a:rPr>
              <a:t>Against 5 machine-learning models, tested on unseen patients</a:t>
            </a:r>
            <a:endParaRPr lang="en-US" sz="1500" dirty="0"/>
          </a:p>
        </p:txBody>
      </p:sp>
      <p:sp>
        <p:nvSpPr>
          <p:cNvPr id="15" name="objective icon 4 circle"/>
          <p:cNvSpPr/>
          <p:nvPr/>
        </p:nvSpPr>
        <p:spPr>
          <a:xfrm>
            <a:off x="731520" y="4983480"/>
            <a:ext cx="777240" cy="777240"/>
          </a:xfrm>
          <a:prstGeom prst="ellipse">
            <a:avLst/>
          </a:prstGeom>
          <a:solidFill>
            <a:srgbClr val="13A89E"/>
          </a:solidFill>
          <a:ln w="12700">
            <a:solidFill>
              <a:srgbClr val="13A89E"/>
            </a:solidFill>
            <a:prstDash val="solid"/>
          </a:ln>
        </p:spPr>
      </p:sp>
      <p:pic>
        <p:nvPicPr>
          <p:cNvPr id="16" name="objective icon 4" descr="preencoded.png">    </p:cNvPr>
          <p:cNvPicPr>
            <a:picLocks noChangeAspect="1"/>
          </p:cNvPicPr>
          <p:nvPr/>
        </p:nvPicPr>
        <p:blipFill>
          <a:blip r:embed="rId4"/>
          <a:stretch>
            <a:fillRect/>
          </a:stretch>
        </p:blipFill>
        <p:spPr>
          <a:xfrm>
            <a:off x="925830" y="5177790"/>
            <a:ext cx="388620" cy="388620"/>
          </a:xfrm>
          <a:prstGeom prst="rect">
            <a:avLst/>
          </a:prstGeom>
        </p:spPr>
      </p:pic>
      <p:sp>
        <p:nvSpPr>
          <p:cNvPr id="17" name="Text 11"/>
          <p:cNvSpPr txBox="1"/>
          <p:nvPr/>
        </p:nvSpPr>
        <p:spPr>
          <a:xfrm>
            <a:off x="1783080" y="5001768"/>
            <a:ext cx="5669280" cy="411480"/>
          </a:xfrm>
          <a:prstGeom prst="rect">
            <a:avLst/>
          </a:prstGeom>
          <a:noFill/>
          <a:ln/>
        </p:spPr>
        <p:txBody>
          <a:bodyPr wrap="square" lIns="0" tIns="0" rIns="0" bIns="0" rtlCol="0" anchor="ctr"/>
          <a:lstStyle/>
          <a:p>
            <a:pPr indent="0" marL="0">
              <a:buNone/>
            </a:pPr>
            <a:r>
              <a:rPr lang="en-US" sz="1900" b="1" dirty="0">
                <a:solidFill>
                  <a:srgbClr val="0E3B3D"/>
                </a:solidFill>
              </a:rPr>
              <a:t>Make it usable</a:t>
            </a:r>
            <a:endParaRPr lang="en-US" sz="1900" dirty="0"/>
          </a:p>
        </p:txBody>
      </p:sp>
      <p:sp>
        <p:nvSpPr>
          <p:cNvPr id="18" name="Text 12"/>
          <p:cNvSpPr txBox="1"/>
          <p:nvPr/>
        </p:nvSpPr>
        <p:spPr>
          <a:xfrm>
            <a:off x="1783080" y="5394960"/>
            <a:ext cx="5669280" cy="411480"/>
          </a:xfrm>
          <a:prstGeom prst="rect">
            <a:avLst/>
          </a:prstGeom>
          <a:noFill/>
          <a:ln/>
        </p:spPr>
        <p:txBody>
          <a:bodyPr wrap="square" lIns="0" tIns="0" rIns="0" bIns="0" rtlCol="0" anchor="ctr"/>
          <a:lstStyle/>
          <a:p>
            <a:pPr indent="0" marL="0">
              <a:buNone/>
            </a:pPr>
            <a:r>
              <a:rPr lang="en-US" sz="1500" dirty="0">
                <a:solidFill>
                  <a:srgbClr val="5B6B70"/>
                </a:solidFill>
              </a:rPr>
              <a:t>A web app: enter test results and get the prediction with a confidence score</a:t>
            </a:r>
            <a:endParaRPr lang="en-US" sz="1500" dirty="0"/>
          </a:p>
        </p:txBody>
      </p:sp>
      <p:sp>
        <p:nvSpPr>
          <p:cNvPr id="19" name="goal card"/>
          <p:cNvSpPr/>
          <p:nvPr/>
        </p:nvSpPr>
        <p:spPr>
          <a:xfrm>
            <a:off x="7955280" y="1417320"/>
            <a:ext cx="3657600" cy="4343400"/>
          </a:xfrm>
          <a:prstGeom prst="roundRect">
            <a:avLst>
              <a:gd name="adj" fmla="val 3000"/>
            </a:avLst>
          </a:prstGeom>
          <a:solidFill>
            <a:srgbClr val="0E3B3D"/>
          </a:solidFill>
          <a:ln w="12700">
            <a:solidFill>
              <a:srgbClr val="0E3B3D"/>
            </a:solidFill>
            <a:prstDash val="solid"/>
          </a:ln>
        </p:spPr>
      </p:sp>
      <p:pic>
        <p:nvPicPr>
          <p:cNvPr id="20" name="goal icon" descr="preencoded.png">    </p:cNvPr>
          <p:cNvPicPr>
            <a:picLocks noChangeAspect="1"/>
          </p:cNvPicPr>
          <p:nvPr/>
        </p:nvPicPr>
        <p:blipFill>
          <a:blip r:embed="rId5"/>
          <a:stretch>
            <a:fillRect/>
          </a:stretch>
        </p:blipFill>
        <p:spPr>
          <a:xfrm>
            <a:off x="8321040" y="1783080"/>
            <a:ext cx="731520" cy="731520"/>
          </a:xfrm>
          <a:prstGeom prst="rect">
            <a:avLst/>
          </a:prstGeom>
        </p:spPr>
      </p:pic>
      <p:sp>
        <p:nvSpPr>
          <p:cNvPr id="21" name="Text 14"/>
          <p:cNvSpPr txBox="1"/>
          <p:nvPr/>
        </p:nvSpPr>
        <p:spPr>
          <a:xfrm>
            <a:off x="8321040" y="2697480"/>
            <a:ext cx="3017520" cy="457200"/>
          </a:xfrm>
          <a:prstGeom prst="rect">
            <a:avLst/>
          </a:prstGeom>
          <a:noFill/>
          <a:ln/>
        </p:spPr>
        <p:txBody>
          <a:bodyPr wrap="square" lIns="0" tIns="0" rIns="0" bIns="0" rtlCol="0" anchor="ctr"/>
          <a:lstStyle/>
          <a:p>
            <a:pPr indent="0" marL="0">
              <a:buNone/>
            </a:pPr>
            <a:r>
              <a:rPr lang="en-US" sz="2000" b="1" dirty="0">
                <a:solidFill>
                  <a:srgbClr val="FFFFFF"/>
                </a:solidFill>
              </a:rPr>
              <a:t>Goal</a:t>
            </a:r>
            <a:endParaRPr lang="en-US" sz="2000" dirty="0"/>
          </a:p>
        </p:txBody>
      </p:sp>
      <p:sp>
        <p:nvSpPr>
          <p:cNvPr id="22" name="Text 15"/>
          <p:cNvSpPr txBox="1"/>
          <p:nvPr/>
        </p:nvSpPr>
        <p:spPr>
          <a:xfrm>
            <a:off x="8321040" y="3200400"/>
            <a:ext cx="3017520" cy="2286000"/>
          </a:xfrm>
          <a:prstGeom prst="rect">
            <a:avLst/>
          </a:prstGeom>
          <a:noFill/>
          <a:ln/>
        </p:spPr>
        <p:txBody>
          <a:bodyPr wrap="square" lIns="0" tIns="0" rIns="0" bIns="0" rtlCol="0" anchor="t"/>
          <a:lstStyle/>
          <a:p>
            <a:pPr indent="0" marL="0">
              <a:buNone/>
            </a:pPr>
            <a:r>
              <a:rPr lang="en-US" sz="1600" dirty="0">
                <a:solidFill>
                  <a:srgbClr val="D7ECEA"/>
                </a:solidFill>
              </a:rPr>
              <a:t>Predict which of 5 genetic diseases a patient most likely has, accurately and honestly measured on patients the model has never seen.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Our journey to a better dataset</a:t>
            </a:r>
            <a:endParaRPr lang="en-US" sz="3200" dirty="0"/>
          </a:p>
        </p:txBody>
      </p:sp>
      <p:sp>
        <p:nvSpPr>
          <p:cNvPr id="3" name="timeline line"/>
          <p:cNvSpPr/>
          <p:nvPr/>
        </p:nvSpPr>
        <p:spPr>
          <a:xfrm>
            <a:off x="1463040" y="2331720"/>
            <a:ext cx="9235440" cy="0"/>
          </a:xfrm>
          <a:prstGeom prst="line">
            <a:avLst/>
          </a:prstGeom>
          <a:noFill/>
          <a:ln w="38100">
            <a:solidFill>
              <a:srgbClr val="D9E6E4"/>
            </a:solidFill>
            <a:prstDash val="solid"/>
          </a:ln>
        </p:spPr>
      </p:sp>
      <p:sp>
        <p:nvSpPr>
          <p:cNvPr id="4" name="timeline node 1"/>
          <p:cNvSpPr/>
          <p:nvPr/>
        </p:nvSpPr>
        <p:spPr>
          <a:xfrm>
            <a:off x="1828800" y="1783080"/>
            <a:ext cx="1097280" cy="1097280"/>
          </a:xfrm>
          <a:prstGeom prst="ellipse">
            <a:avLst/>
          </a:prstGeom>
          <a:solidFill>
            <a:srgbClr val="9AA9AD"/>
          </a:solidFill>
          <a:ln w="38100">
            <a:solidFill>
              <a:srgbClr val="FFFFFF"/>
            </a:solidFill>
            <a:prstDash val="solid"/>
          </a:ln>
        </p:spPr>
      </p:sp>
      <p:sp>
        <p:nvSpPr>
          <p:cNvPr id="5" name="Text 3"/>
          <p:cNvSpPr txBox="1"/>
          <p:nvPr/>
        </p:nvSpPr>
        <p:spPr>
          <a:xfrm>
            <a:off x="1828800" y="1783080"/>
            <a:ext cx="1097280" cy="1097280"/>
          </a:xfrm>
          <a:prstGeom prst="rect">
            <a:avLst/>
          </a:prstGeom>
          <a:noFill/>
          <a:ln/>
        </p:spPr>
        <p:txBody>
          <a:bodyPr wrap="square" lIns="0" tIns="0" rIns="0" bIns="0" rtlCol="0" anchor="ctr"/>
          <a:lstStyle/>
          <a:p>
            <a:pPr algn="ctr" indent="0" marL="0">
              <a:buNone/>
            </a:pPr>
            <a:r>
              <a:rPr lang="en-US" sz="2000" b="1" dirty="0">
                <a:solidFill>
                  <a:srgbClr val="FFFFFF"/>
                </a:solidFill>
              </a:rPr>
              <a:t>62%</a:t>
            </a:r>
            <a:endParaRPr lang="en-US" sz="2000" dirty="0"/>
          </a:p>
        </p:txBody>
      </p:sp>
      <p:sp>
        <p:nvSpPr>
          <p:cNvPr id="6" name="Text 4"/>
          <p:cNvSpPr txBox="1"/>
          <p:nvPr/>
        </p:nvSpPr>
        <p:spPr>
          <a:xfrm>
            <a:off x="548640" y="3154680"/>
            <a:ext cx="3657600" cy="320040"/>
          </a:xfrm>
          <a:prstGeom prst="rect">
            <a:avLst/>
          </a:prstGeom>
          <a:noFill/>
          <a:ln/>
        </p:spPr>
        <p:txBody>
          <a:bodyPr wrap="square" lIns="0" tIns="0" rIns="0" bIns="0" rtlCol="0" anchor="ctr"/>
          <a:lstStyle/>
          <a:p>
            <a:pPr algn="ctr" indent="0" marL="0">
              <a:buNone/>
            </a:pPr>
            <a:r>
              <a:rPr lang="en-US" sz="1300" b="1" dirty="0">
                <a:solidFill>
                  <a:srgbClr val="9AA9AD"/>
                </a:solidFill>
              </a:rPr>
              <a:t>Step 1</a:t>
            </a:r>
            <a:endParaRPr lang="en-US" sz="1300" dirty="0"/>
          </a:p>
        </p:txBody>
      </p:sp>
      <p:sp>
        <p:nvSpPr>
          <p:cNvPr id="7" name="Text 5"/>
          <p:cNvSpPr txBox="1"/>
          <p:nvPr/>
        </p:nvSpPr>
        <p:spPr>
          <a:xfrm>
            <a:off x="548640" y="3520440"/>
            <a:ext cx="3657600" cy="457200"/>
          </a:xfrm>
          <a:prstGeom prst="rect">
            <a:avLst/>
          </a:prstGeom>
          <a:noFill/>
          <a:ln/>
        </p:spPr>
        <p:txBody>
          <a:bodyPr wrap="square" lIns="0" tIns="0" rIns="0" bIns="0" rtlCol="0" anchor="ctr"/>
          <a:lstStyle/>
          <a:p>
            <a:pPr algn="ctr" indent="0" marL="0">
              <a:buNone/>
            </a:pPr>
            <a:r>
              <a:rPr lang="en-US" sz="1900" b="1" dirty="0">
                <a:solidFill>
                  <a:srgbClr val="0E3B3D"/>
                </a:solidFill>
              </a:rPr>
              <a:t>Original dataset</a:t>
            </a:r>
            <a:endParaRPr lang="en-US" sz="1900" dirty="0"/>
          </a:p>
        </p:txBody>
      </p:sp>
      <p:sp>
        <p:nvSpPr>
          <p:cNvPr id="8" name="Text 6"/>
          <p:cNvSpPr txBox="1"/>
          <p:nvPr/>
        </p:nvSpPr>
        <p:spPr>
          <a:xfrm>
            <a:off x="822960" y="4069080"/>
            <a:ext cx="3108960" cy="1463040"/>
          </a:xfrm>
          <a:prstGeom prst="rect">
            <a:avLst/>
          </a:prstGeom>
          <a:noFill/>
          <a:ln/>
        </p:spPr>
        <p:txBody>
          <a:bodyPr wrap="square" lIns="0" tIns="0" rIns="0" bIns="0" rtlCol="0" anchor="t"/>
          <a:lstStyle/>
          <a:p>
            <a:pPr algn="ctr" indent="0" marL="0">
              <a:buNone/>
            </a:pPr>
            <a:r>
              <a:rPr lang="en-US" sz="1500" dirty="0">
                <a:solidFill>
                  <a:srgbClr val="1B2428"/>
                </a:solidFill>
              </a:rPr>
              <a:t>22,000 records (HackerEarth). Mostly random columns; best honest accuracy was 62%.</a:t>
            </a:r>
            <a:endParaRPr lang="en-US" sz="1500" dirty="0"/>
          </a:p>
        </p:txBody>
      </p:sp>
      <p:sp>
        <p:nvSpPr>
          <p:cNvPr id="9" name="timeline node 2"/>
          <p:cNvSpPr/>
          <p:nvPr/>
        </p:nvSpPr>
        <p:spPr>
          <a:xfrm>
            <a:off x="5577840" y="1783080"/>
            <a:ext cx="1097280" cy="1097280"/>
          </a:xfrm>
          <a:prstGeom prst="ellipse">
            <a:avLst/>
          </a:prstGeom>
          <a:solidFill>
            <a:srgbClr val="F2994A"/>
          </a:solidFill>
          <a:ln w="38100">
            <a:solidFill>
              <a:srgbClr val="FFFFFF"/>
            </a:solidFill>
            <a:prstDash val="solid"/>
          </a:ln>
        </p:spPr>
      </p:sp>
      <p:sp>
        <p:nvSpPr>
          <p:cNvPr id="10" name="Text 8"/>
          <p:cNvSpPr txBox="1"/>
          <p:nvPr/>
        </p:nvSpPr>
        <p:spPr>
          <a:xfrm>
            <a:off x="5577840" y="1783080"/>
            <a:ext cx="1097280" cy="1097280"/>
          </a:xfrm>
          <a:prstGeom prst="rect">
            <a:avLst/>
          </a:prstGeom>
          <a:noFill/>
          <a:ln/>
        </p:spPr>
        <p:txBody>
          <a:bodyPr wrap="square" lIns="0" tIns="0" rIns="0" bIns="0" rtlCol="0" anchor="ctr"/>
          <a:lstStyle/>
          <a:p>
            <a:pPr algn="ctr" indent="0" marL="0">
              <a:buNone/>
            </a:pPr>
            <a:r>
              <a:rPr lang="en-US" sz="2000" b="1" dirty="0">
                <a:solidFill>
                  <a:srgbClr val="FFFFFF"/>
                </a:solidFill>
              </a:rPr>
              <a:t>Data</a:t>
            </a:r>
            <a:endParaRPr lang="en-US" sz="2000" dirty="0"/>
          </a:p>
        </p:txBody>
      </p:sp>
      <p:sp>
        <p:nvSpPr>
          <p:cNvPr id="11" name="Text 9"/>
          <p:cNvSpPr txBox="1"/>
          <p:nvPr/>
        </p:nvSpPr>
        <p:spPr>
          <a:xfrm>
            <a:off x="4297680" y="3154680"/>
            <a:ext cx="3657600" cy="320040"/>
          </a:xfrm>
          <a:prstGeom prst="rect">
            <a:avLst/>
          </a:prstGeom>
          <a:noFill/>
          <a:ln/>
        </p:spPr>
        <p:txBody>
          <a:bodyPr wrap="square" lIns="0" tIns="0" rIns="0" bIns="0" rtlCol="0" anchor="ctr"/>
          <a:lstStyle/>
          <a:p>
            <a:pPr algn="ctr" indent="0" marL="0">
              <a:buNone/>
            </a:pPr>
            <a:r>
              <a:rPr lang="en-US" sz="1300" b="1" dirty="0">
                <a:solidFill>
                  <a:srgbClr val="F2994A"/>
                </a:solidFill>
              </a:rPr>
              <a:t>Step 2</a:t>
            </a:r>
            <a:endParaRPr lang="en-US" sz="1300" dirty="0"/>
          </a:p>
        </p:txBody>
      </p:sp>
      <p:sp>
        <p:nvSpPr>
          <p:cNvPr id="12" name="Text 10"/>
          <p:cNvSpPr txBox="1"/>
          <p:nvPr/>
        </p:nvSpPr>
        <p:spPr>
          <a:xfrm>
            <a:off x="4297680" y="3520440"/>
            <a:ext cx="3657600" cy="457200"/>
          </a:xfrm>
          <a:prstGeom prst="rect">
            <a:avLst/>
          </a:prstGeom>
          <a:noFill/>
          <a:ln/>
        </p:spPr>
        <p:txBody>
          <a:bodyPr wrap="square" lIns="0" tIns="0" rIns="0" bIns="0" rtlCol="0" anchor="ctr"/>
          <a:lstStyle/>
          <a:p>
            <a:pPr algn="ctr" indent="0" marL="0">
              <a:buNone/>
            </a:pPr>
            <a:r>
              <a:rPr lang="en-US" sz="1900" b="1" dirty="0">
                <a:solidFill>
                  <a:srgbClr val="0E3B3D"/>
                </a:solidFill>
              </a:rPr>
              <a:t>Analysed the problem</a:t>
            </a:r>
            <a:endParaRPr lang="en-US" sz="1900" dirty="0"/>
          </a:p>
        </p:txBody>
      </p:sp>
      <p:sp>
        <p:nvSpPr>
          <p:cNvPr id="13" name="Text 11"/>
          <p:cNvSpPr txBox="1"/>
          <p:nvPr/>
        </p:nvSpPr>
        <p:spPr>
          <a:xfrm>
            <a:off x="4572000" y="4069080"/>
            <a:ext cx="3108960" cy="1463040"/>
          </a:xfrm>
          <a:prstGeom prst="rect">
            <a:avLst/>
          </a:prstGeom>
          <a:noFill/>
          <a:ln/>
        </p:spPr>
        <p:txBody>
          <a:bodyPr wrap="square" lIns="0" tIns="0" rIns="0" bIns="0" rtlCol="0" anchor="t"/>
          <a:lstStyle/>
          <a:p>
            <a:pPr algn="ctr" indent="0" marL="0">
              <a:buNone/>
            </a:pPr>
            <a:r>
              <a:rPr lang="en-US" sz="1500" dirty="0">
                <a:solidFill>
                  <a:srgbClr val="1B2428"/>
                </a:solidFill>
              </a:rPr>
              <a:t>Found the data itself was the limit: noise cannot be fixed by a better model.</a:t>
            </a:r>
            <a:endParaRPr lang="en-US" sz="1500" dirty="0"/>
          </a:p>
        </p:txBody>
      </p:sp>
      <p:sp>
        <p:nvSpPr>
          <p:cNvPr id="14" name="timeline node 3"/>
          <p:cNvSpPr/>
          <p:nvPr/>
        </p:nvSpPr>
        <p:spPr>
          <a:xfrm>
            <a:off x="9326880" y="1783080"/>
            <a:ext cx="1097280" cy="1097280"/>
          </a:xfrm>
          <a:prstGeom prst="ellipse">
            <a:avLst/>
          </a:prstGeom>
          <a:solidFill>
            <a:srgbClr val="13A89E"/>
          </a:solidFill>
          <a:ln w="38100">
            <a:solidFill>
              <a:srgbClr val="FFFFFF"/>
            </a:solidFill>
            <a:prstDash val="solid"/>
          </a:ln>
        </p:spPr>
      </p:sp>
      <p:sp>
        <p:nvSpPr>
          <p:cNvPr id="15" name="Text 13"/>
          <p:cNvSpPr txBox="1"/>
          <p:nvPr/>
        </p:nvSpPr>
        <p:spPr>
          <a:xfrm>
            <a:off x="9326880" y="1783080"/>
            <a:ext cx="1097280" cy="1097280"/>
          </a:xfrm>
          <a:prstGeom prst="rect">
            <a:avLst/>
          </a:prstGeom>
          <a:noFill/>
          <a:ln/>
        </p:spPr>
        <p:txBody>
          <a:bodyPr wrap="square" lIns="0" tIns="0" rIns="0" bIns="0" rtlCol="0" anchor="ctr"/>
          <a:lstStyle/>
          <a:p>
            <a:pPr algn="ctr" indent="0" marL="0">
              <a:buNone/>
            </a:pPr>
            <a:r>
              <a:rPr lang="en-US" sz="2000" b="1" dirty="0">
                <a:solidFill>
                  <a:srgbClr val="FFFFFF"/>
                </a:solidFill>
              </a:rPr>
              <a:t>96%</a:t>
            </a:r>
            <a:endParaRPr lang="en-US" sz="2000" dirty="0"/>
          </a:p>
        </p:txBody>
      </p:sp>
      <p:sp>
        <p:nvSpPr>
          <p:cNvPr id="16" name="Text 14"/>
          <p:cNvSpPr txBox="1"/>
          <p:nvPr/>
        </p:nvSpPr>
        <p:spPr>
          <a:xfrm>
            <a:off x="8046720" y="3154680"/>
            <a:ext cx="3657600" cy="320040"/>
          </a:xfrm>
          <a:prstGeom prst="rect">
            <a:avLst/>
          </a:prstGeom>
          <a:noFill/>
          <a:ln/>
        </p:spPr>
        <p:txBody>
          <a:bodyPr wrap="square" lIns="0" tIns="0" rIns="0" bIns="0" rtlCol="0" anchor="ctr"/>
          <a:lstStyle/>
          <a:p>
            <a:pPr algn="ctr" indent="0" marL="0">
              <a:buNone/>
            </a:pPr>
            <a:r>
              <a:rPr lang="en-US" sz="1300" b="1" dirty="0">
                <a:solidFill>
                  <a:srgbClr val="13A89E"/>
                </a:solidFill>
              </a:rPr>
              <a:t>Step 3</a:t>
            </a:r>
            <a:endParaRPr lang="en-US" sz="1300" dirty="0"/>
          </a:p>
        </p:txBody>
      </p:sp>
      <p:sp>
        <p:nvSpPr>
          <p:cNvPr id="17" name="Text 15"/>
          <p:cNvSpPr txBox="1"/>
          <p:nvPr/>
        </p:nvSpPr>
        <p:spPr>
          <a:xfrm>
            <a:off x="8046720" y="3520440"/>
            <a:ext cx="3657600" cy="457200"/>
          </a:xfrm>
          <a:prstGeom prst="rect">
            <a:avLst/>
          </a:prstGeom>
          <a:noFill/>
          <a:ln/>
        </p:spPr>
        <p:txBody>
          <a:bodyPr wrap="square" lIns="0" tIns="0" rIns="0" bIns="0" rtlCol="0" anchor="ctr"/>
          <a:lstStyle/>
          <a:p>
            <a:pPr algn="ctr" indent="0" marL="0">
              <a:buNone/>
            </a:pPr>
            <a:r>
              <a:rPr lang="en-US" sz="1900" b="1" dirty="0">
                <a:solidFill>
                  <a:srgbClr val="0E3B3D"/>
                </a:solidFill>
              </a:rPr>
              <a:t>Better dataset + deep learning</a:t>
            </a:r>
            <a:endParaRPr lang="en-US" sz="1900" dirty="0"/>
          </a:p>
        </p:txBody>
      </p:sp>
      <p:sp>
        <p:nvSpPr>
          <p:cNvPr id="18" name="Text 16"/>
          <p:cNvSpPr txBox="1"/>
          <p:nvPr/>
        </p:nvSpPr>
        <p:spPr>
          <a:xfrm>
            <a:off x="8321040" y="4069080"/>
            <a:ext cx="3108960" cy="1463040"/>
          </a:xfrm>
          <a:prstGeom prst="rect">
            <a:avLst/>
          </a:prstGeom>
          <a:noFill/>
          <a:ln/>
        </p:spPr>
        <p:txBody>
          <a:bodyPr wrap="square" lIns="0" tIns="0" rIns="0" bIns="0" rtlCol="0" anchor="t"/>
          <a:lstStyle/>
          <a:p>
            <a:pPr algn="ctr" indent="0" marL="0">
              <a:buNone/>
            </a:pPr>
            <a:r>
              <a:rPr lang="en-US" sz="1500" dirty="0">
                <a:solidFill>
                  <a:srgbClr val="1B2428"/>
                </a:solidFill>
              </a:rPr>
              <a:t>Clean genetic disease dataset and a PyTorch neural network.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Dataset: Genetic Disease Prediction Dataset</a:t>
            </a:r>
            <a:endParaRPr lang="en-US" sz="3200" dirty="0"/>
          </a:p>
        </p:txBody>
      </p:sp>
      <p:sp>
        <p:nvSpPr>
          <p:cNvPr id="3" name="card"/>
          <p:cNvSpPr/>
          <p:nvPr/>
        </p:nvSpPr>
        <p:spPr>
          <a:xfrm>
            <a:off x="548640" y="1371600"/>
            <a:ext cx="3931920" cy="960120"/>
          </a:xfrm>
          <a:prstGeom prst="roundRect">
            <a:avLst>
              <a:gd name="adj" fmla="val 11429"/>
            </a:avLst>
          </a:prstGeom>
          <a:solidFill>
            <a:srgbClr val="EEF6F5"/>
          </a:solidFill>
          <a:ln w="12700">
            <a:solidFill>
              <a:srgbClr val="EEF6F5"/>
            </a:solidFill>
            <a:prstDash val="solid"/>
          </a:ln>
        </p:spPr>
      </p:sp>
      <p:sp>
        <p:nvSpPr>
          <p:cNvPr id="4" name="Text 2"/>
          <p:cNvSpPr txBox="1"/>
          <p:nvPr/>
        </p:nvSpPr>
        <p:spPr>
          <a:xfrm>
            <a:off x="777240" y="1463040"/>
            <a:ext cx="1737360" cy="777240"/>
          </a:xfrm>
          <a:prstGeom prst="rect">
            <a:avLst/>
          </a:prstGeom>
          <a:noFill/>
          <a:ln/>
        </p:spPr>
        <p:txBody>
          <a:bodyPr wrap="square" lIns="0" tIns="0" rIns="0" bIns="0" rtlCol="0" anchor="ctr"/>
          <a:lstStyle/>
          <a:p>
            <a:pPr indent="0" marL="0">
              <a:buNone/>
            </a:pPr>
            <a:r>
              <a:rPr lang="en-US" sz="3600" b="1" dirty="0">
                <a:solidFill>
                  <a:srgbClr val="13A89E"/>
                </a:solidFill>
              </a:rPr>
              <a:t>1,000</a:t>
            </a:r>
            <a:endParaRPr lang="en-US" sz="3600" dirty="0"/>
          </a:p>
        </p:txBody>
      </p:sp>
      <p:sp>
        <p:nvSpPr>
          <p:cNvPr id="5" name="Text 3"/>
          <p:cNvSpPr txBox="1"/>
          <p:nvPr/>
        </p:nvSpPr>
        <p:spPr>
          <a:xfrm>
            <a:off x="2514600" y="1463040"/>
            <a:ext cx="1828800" cy="777240"/>
          </a:xfrm>
          <a:prstGeom prst="rect">
            <a:avLst/>
          </a:prstGeom>
          <a:noFill/>
          <a:ln/>
        </p:spPr>
        <p:txBody>
          <a:bodyPr wrap="square" lIns="0" tIns="0" rIns="0" bIns="0" rtlCol="0" anchor="ctr"/>
          <a:lstStyle/>
          <a:p>
            <a:pPr indent="0" marL="0">
              <a:buNone/>
            </a:pPr>
            <a:r>
              <a:rPr lang="en-US" sz="1600" dirty="0">
                <a:solidFill>
                  <a:srgbClr val="1B2428"/>
                </a:solidFill>
              </a:rPr>
              <a:t>patients</a:t>
            </a:r>
            <a:endParaRPr lang="en-US" sz="1600" dirty="0"/>
          </a:p>
        </p:txBody>
      </p:sp>
      <p:sp>
        <p:nvSpPr>
          <p:cNvPr id="6" name="card"/>
          <p:cNvSpPr/>
          <p:nvPr/>
        </p:nvSpPr>
        <p:spPr>
          <a:xfrm>
            <a:off x="548640" y="2487168"/>
            <a:ext cx="3931920" cy="960120"/>
          </a:xfrm>
          <a:prstGeom prst="roundRect">
            <a:avLst>
              <a:gd name="adj" fmla="val 11429"/>
            </a:avLst>
          </a:prstGeom>
          <a:solidFill>
            <a:srgbClr val="EEF6F5"/>
          </a:solidFill>
          <a:ln w="12700">
            <a:solidFill>
              <a:srgbClr val="EEF6F5"/>
            </a:solidFill>
            <a:prstDash val="solid"/>
          </a:ln>
        </p:spPr>
      </p:sp>
      <p:sp>
        <p:nvSpPr>
          <p:cNvPr id="7" name="Text 5"/>
          <p:cNvSpPr txBox="1"/>
          <p:nvPr/>
        </p:nvSpPr>
        <p:spPr>
          <a:xfrm>
            <a:off x="777240" y="2578608"/>
            <a:ext cx="1737360" cy="777240"/>
          </a:xfrm>
          <a:prstGeom prst="rect">
            <a:avLst/>
          </a:prstGeom>
          <a:noFill/>
          <a:ln/>
        </p:spPr>
        <p:txBody>
          <a:bodyPr wrap="square" lIns="0" tIns="0" rIns="0" bIns="0" rtlCol="0" anchor="ctr"/>
          <a:lstStyle/>
          <a:p>
            <a:pPr indent="0" marL="0">
              <a:buNone/>
            </a:pPr>
            <a:r>
              <a:rPr lang="en-US" sz="3600" b="1" dirty="0">
                <a:solidFill>
                  <a:srgbClr val="13A89E"/>
                </a:solidFill>
              </a:rPr>
              <a:t>5</a:t>
            </a:r>
            <a:endParaRPr lang="en-US" sz="3600" dirty="0"/>
          </a:p>
        </p:txBody>
      </p:sp>
      <p:sp>
        <p:nvSpPr>
          <p:cNvPr id="8" name="Text 6"/>
          <p:cNvSpPr txBox="1"/>
          <p:nvPr/>
        </p:nvSpPr>
        <p:spPr>
          <a:xfrm>
            <a:off x="2514600" y="2578608"/>
            <a:ext cx="1828800" cy="777240"/>
          </a:xfrm>
          <a:prstGeom prst="rect">
            <a:avLst/>
          </a:prstGeom>
          <a:noFill/>
          <a:ln/>
        </p:spPr>
        <p:txBody>
          <a:bodyPr wrap="square" lIns="0" tIns="0" rIns="0" bIns="0" rtlCol="0" anchor="ctr"/>
          <a:lstStyle/>
          <a:p>
            <a:pPr indent="0" marL="0">
              <a:buNone/>
            </a:pPr>
            <a:r>
              <a:rPr lang="en-US" sz="1600" dirty="0">
                <a:solidFill>
                  <a:srgbClr val="1B2428"/>
                </a:solidFill>
              </a:rPr>
              <a:t>genetic diseases</a:t>
            </a:r>
            <a:endParaRPr lang="en-US" sz="1600" dirty="0"/>
          </a:p>
        </p:txBody>
      </p:sp>
      <p:sp>
        <p:nvSpPr>
          <p:cNvPr id="9" name="card"/>
          <p:cNvSpPr/>
          <p:nvPr/>
        </p:nvSpPr>
        <p:spPr>
          <a:xfrm>
            <a:off x="548640" y="3602736"/>
            <a:ext cx="3931920" cy="960120"/>
          </a:xfrm>
          <a:prstGeom prst="roundRect">
            <a:avLst>
              <a:gd name="adj" fmla="val 11429"/>
            </a:avLst>
          </a:prstGeom>
          <a:solidFill>
            <a:srgbClr val="EEF6F5"/>
          </a:solidFill>
          <a:ln w="12700">
            <a:solidFill>
              <a:srgbClr val="EEF6F5"/>
            </a:solidFill>
            <a:prstDash val="solid"/>
          </a:ln>
        </p:spPr>
      </p:sp>
      <p:sp>
        <p:nvSpPr>
          <p:cNvPr id="10" name="Text 8"/>
          <p:cNvSpPr txBox="1"/>
          <p:nvPr/>
        </p:nvSpPr>
        <p:spPr>
          <a:xfrm>
            <a:off x="777240" y="3694176"/>
            <a:ext cx="1737360" cy="777240"/>
          </a:xfrm>
          <a:prstGeom prst="rect">
            <a:avLst/>
          </a:prstGeom>
          <a:noFill/>
          <a:ln/>
        </p:spPr>
        <p:txBody>
          <a:bodyPr wrap="square" lIns="0" tIns="0" rIns="0" bIns="0" rtlCol="0" anchor="ctr"/>
          <a:lstStyle/>
          <a:p>
            <a:pPr indent="0" marL="0">
              <a:buNone/>
            </a:pPr>
            <a:r>
              <a:rPr lang="en-US" sz="3600" b="1" dirty="0">
                <a:solidFill>
                  <a:srgbClr val="13A89E"/>
                </a:solidFill>
              </a:rPr>
              <a:t>12</a:t>
            </a:r>
            <a:endParaRPr lang="en-US" sz="3600" dirty="0"/>
          </a:p>
        </p:txBody>
      </p:sp>
      <p:sp>
        <p:nvSpPr>
          <p:cNvPr id="11" name="Text 9"/>
          <p:cNvSpPr txBox="1"/>
          <p:nvPr/>
        </p:nvSpPr>
        <p:spPr>
          <a:xfrm>
            <a:off x="2514600" y="3694176"/>
            <a:ext cx="1828800" cy="777240"/>
          </a:xfrm>
          <a:prstGeom prst="rect">
            <a:avLst/>
          </a:prstGeom>
          <a:noFill/>
          <a:ln/>
        </p:spPr>
        <p:txBody>
          <a:bodyPr wrap="square" lIns="0" tIns="0" rIns="0" bIns="0" rtlCol="0" anchor="ctr"/>
          <a:lstStyle/>
          <a:p>
            <a:pPr indent="0" marL="0">
              <a:buNone/>
            </a:pPr>
            <a:r>
              <a:rPr lang="en-US" sz="1600" dirty="0">
                <a:solidFill>
                  <a:srgbClr val="1B2428"/>
                </a:solidFill>
              </a:rPr>
              <a:t>input features</a:t>
            </a:r>
            <a:endParaRPr lang="en-US" sz="1600" dirty="0"/>
          </a:p>
        </p:txBody>
      </p:sp>
      <p:sp>
        <p:nvSpPr>
          <p:cNvPr id="12" name="card"/>
          <p:cNvSpPr/>
          <p:nvPr/>
        </p:nvSpPr>
        <p:spPr>
          <a:xfrm>
            <a:off x="548640" y="4718304"/>
            <a:ext cx="3931920" cy="960120"/>
          </a:xfrm>
          <a:prstGeom prst="roundRect">
            <a:avLst>
              <a:gd name="adj" fmla="val 11429"/>
            </a:avLst>
          </a:prstGeom>
          <a:solidFill>
            <a:srgbClr val="EEF6F5"/>
          </a:solidFill>
          <a:ln w="12700">
            <a:solidFill>
              <a:srgbClr val="EEF6F5"/>
            </a:solidFill>
            <a:prstDash val="solid"/>
          </a:ln>
        </p:spPr>
      </p:sp>
      <p:sp>
        <p:nvSpPr>
          <p:cNvPr id="13" name="Text 11"/>
          <p:cNvSpPr txBox="1"/>
          <p:nvPr/>
        </p:nvSpPr>
        <p:spPr>
          <a:xfrm>
            <a:off x="777240" y="4809744"/>
            <a:ext cx="1737360" cy="777240"/>
          </a:xfrm>
          <a:prstGeom prst="rect">
            <a:avLst/>
          </a:prstGeom>
          <a:noFill/>
          <a:ln/>
        </p:spPr>
        <p:txBody>
          <a:bodyPr wrap="square" lIns="0" tIns="0" rIns="0" bIns="0" rtlCol="0" anchor="ctr"/>
          <a:lstStyle/>
          <a:p>
            <a:pPr indent="0" marL="0">
              <a:buNone/>
            </a:pPr>
            <a:r>
              <a:rPr lang="en-US" sz="3600" b="1" dirty="0">
                <a:solidFill>
                  <a:srgbClr val="13A89E"/>
                </a:solidFill>
              </a:rPr>
              <a:t>200</a:t>
            </a:r>
            <a:endParaRPr lang="en-US" sz="3600" dirty="0"/>
          </a:p>
        </p:txBody>
      </p:sp>
      <p:sp>
        <p:nvSpPr>
          <p:cNvPr id="14" name="Text 12"/>
          <p:cNvSpPr txBox="1"/>
          <p:nvPr/>
        </p:nvSpPr>
        <p:spPr>
          <a:xfrm>
            <a:off x="2514600" y="4809744"/>
            <a:ext cx="1828800" cy="777240"/>
          </a:xfrm>
          <a:prstGeom prst="rect">
            <a:avLst/>
          </a:prstGeom>
          <a:noFill/>
          <a:ln/>
        </p:spPr>
        <p:txBody>
          <a:bodyPr wrap="square" lIns="0" tIns="0" rIns="0" bIns="0" rtlCol="0" anchor="ctr"/>
          <a:lstStyle/>
          <a:p>
            <a:pPr indent="0" marL="0">
              <a:buNone/>
            </a:pPr>
            <a:r>
              <a:rPr lang="en-US" sz="1600" dirty="0">
                <a:solidFill>
                  <a:srgbClr val="1B2428"/>
                </a:solidFill>
              </a:rPr>
              <a:t>patients per disease</a:t>
            </a:r>
            <a:endParaRPr lang="en-US" sz="1600" dirty="0"/>
          </a:p>
        </p:txBody>
      </p:sp>
      <p:pic>
        <p:nvPicPr>
          <p:cNvPr id="15" name="Kaggle dataset page" descr="Kaggle page of the Genetic Disease Prediction Dataset">    </p:cNvPr>
          <p:cNvPicPr>
            <a:picLocks noChangeAspect="1"/>
          </p:cNvPicPr>
          <p:nvPr/>
        </p:nvPicPr>
        <p:blipFill>
          <a:blip r:embed="rId1"/>
          <a:stretch>
            <a:fillRect/>
          </a:stretch>
        </p:blipFill>
        <p:spPr>
          <a:xfrm>
            <a:off x="4892040" y="1371600"/>
            <a:ext cx="6060558" cy="4572000"/>
          </a:xfrm>
          <a:prstGeom prst="rect">
            <a:avLst/>
          </a:prstGeom>
        </p:spPr>
      </p:pic>
      <p:sp>
        <p:nvSpPr>
          <p:cNvPr id="16" name="Text 13"/>
          <p:cNvSpPr txBox="1"/>
          <p:nvPr/>
        </p:nvSpPr>
        <p:spPr>
          <a:xfrm>
            <a:off x="4892040" y="5989320"/>
            <a:ext cx="6766560" cy="274320"/>
          </a:xfrm>
          <a:prstGeom prst="rect">
            <a:avLst/>
          </a:prstGeom>
          <a:noFill/>
          <a:ln/>
        </p:spPr>
        <p:txBody>
          <a:bodyPr wrap="square" lIns="0" tIns="0" rIns="0" bIns="0" rtlCol="0" anchor="ctr"/>
          <a:lstStyle/>
          <a:p>
            <a:pPr indent="0" marL="0">
              <a:buNone/>
            </a:pPr>
            <a:r>
              <a:rPr lang="en-US" sz="1100" dirty="0">
                <a:solidFill>
                  <a:srgbClr val="5B6B70"/>
                </a:solidFill>
              </a:rPr>
              <a:t>Source: kaggle.com/datasets/syeddanish5/genetic-disease-prediction-dataset (CC BY-SA 4.0)</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What the data looks like</a:t>
            </a:r>
            <a:endParaRPr lang="en-US" sz="3200" dirty="0"/>
          </a:p>
        </p:txBody>
      </p:sp>
      <p:pic>
        <p:nvPicPr>
          <p:cNvPr id="3" name="dataset rows" descr="First rows of genetic_disease_dataset.csv">    </p:cNvPr>
          <p:cNvPicPr>
            <a:picLocks noChangeAspect="1"/>
          </p:cNvPicPr>
          <p:nvPr/>
        </p:nvPicPr>
        <p:blipFill>
          <a:blip r:embed="rId1"/>
          <a:stretch>
            <a:fillRect/>
          </a:stretch>
        </p:blipFill>
        <p:spPr>
          <a:xfrm>
            <a:off x="548640" y="1280160"/>
            <a:ext cx="11057549" cy="3383280"/>
          </a:xfrm>
          <a:prstGeom prst="rect">
            <a:avLst/>
          </a:prstGeom>
        </p:spPr>
      </p:pic>
      <p:sp>
        <p:nvSpPr>
          <p:cNvPr id="4" name="card"/>
          <p:cNvSpPr/>
          <p:nvPr/>
        </p:nvSpPr>
        <p:spPr>
          <a:xfrm>
            <a:off x="548640" y="4892040"/>
            <a:ext cx="2633472" cy="1325880"/>
          </a:xfrm>
          <a:prstGeom prst="roundRect">
            <a:avLst>
              <a:gd name="adj" fmla="val 8276"/>
            </a:avLst>
          </a:prstGeom>
          <a:solidFill>
            <a:srgbClr val="EEF6F5"/>
          </a:solidFill>
          <a:ln w="12700">
            <a:solidFill>
              <a:srgbClr val="EEF6F5"/>
            </a:solidFill>
            <a:prstDash val="solid"/>
          </a:ln>
        </p:spPr>
      </p:sp>
      <p:sp>
        <p:nvSpPr>
          <p:cNvPr id="5" name="feature group icon 1 circle"/>
          <p:cNvSpPr/>
          <p:nvPr/>
        </p:nvSpPr>
        <p:spPr>
          <a:xfrm>
            <a:off x="731520" y="5074920"/>
            <a:ext cx="457200" cy="457200"/>
          </a:xfrm>
          <a:prstGeom prst="ellipse">
            <a:avLst/>
          </a:prstGeom>
          <a:solidFill>
            <a:srgbClr val="13A89E"/>
          </a:solidFill>
          <a:ln w="12700">
            <a:solidFill>
              <a:srgbClr val="13A89E"/>
            </a:solidFill>
            <a:prstDash val="solid"/>
          </a:ln>
        </p:spPr>
      </p:sp>
      <p:pic>
        <p:nvPicPr>
          <p:cNvPr id="6" name="feature group icon 1" descr="preencoded.png">    </p:cNvPr>
          <p:cNvPicPr>
            <a:picLocks noChangeAspect="1"/>
          </p:cNvPicPr>
          <p:nvPr/>
        </p:nvPicPr>
        <p:blipFill>
          <a:blip r:embed="rId2"/>
          <a:stretch>
            <a:fillRect/>
          </a:stretch>
        </p:blipFill>
        <p:spPr>
          <a:xfrm>
            <a:off x="845820" y="5189220"/>
            <a:ext cx="228600" cy="228600"/>
          </a:xfrm>
          <a:prstGeom prst="rect">
            <a:avLst/>
          </a:prstGeom>
        </p:spPr>
      </p:pic>
      <p:sp>
        <p:nvSpPr>
          <p:cNvPr id="7" name="Text 3"/>
          <p:cNvSpPr txBox="1"/>
          <p:nvPr/>
        </p:nvSpPr>
        <p:spPr>
          <a:xfrm>
            <a:off x="1298448" y="5120640"/>
            <a:ext cx="1783080" cy="365760"/>
          </a:xfrm>
          <a:prstGeom prst="rect">
            <a:avLst/>
          </a:prstGeom>
          <a:noFill/>
          <a:ln/>
        </p:spPr>
        <p:txBody>
          <a:bodyPr wrap="square" lIns="0" tIns="0" rIns="0" bIns="0" rtlCol="0" anchor="ctr"/>
          <a:lstStyle/>
          <a:p>
            <a:pPr indent="0" marL="0">
              <a:buNone/>
            </a:pPr>
            <a:r>
              <a:rPr lang="en-US" sz="1500" b="1" dirty="0">
                <a:solidFill>
                  <a:srgbClr val="0E3B3D"/>
                </a:solidFill>
              </a:rPr>
              <a:t>Patient</a:t>
            </a:r>
            <a:endParaRPr lang="en-US" sz="1500" dirty="0"/>
          </a:p>
        </p:txBody>
      </p:sp>
      <p:sp>
        <p:nvSpPr>
          <p:cNvPr id="8" name="Text 4"/>
          <p:cNvSpPr txBox="1"/>
          <p:nvPr/>
        </p:nvSpPr>
        <p:spPr>
          <a:xfrm>
            <a:off x="731520" y="5577840"/>
            <a:ext cx="2331720" cy="594360"/>
          </a:xfrm>
          <a:prstGeom prst="rect">
            <a:avLst/>
          </a:prstGeom>
          <a:noFill/>
          <a:ln/>
        </p:spPr>
        <p:txBody>
          <a:bodyPr wrap="square" lIns="0" tIns="0" rIns="0" bIns="0" rtlCol="0" anchor="t"/>
          <a:lstStyle/>
          <a:p>
            <a:pPr indent="0" marL="0">
              <a:buNone/>
            </a:pPr>
            <a:r>
              <a:rPr lang="en-US" sz="1200" dirty="0">
                <a:solidFill>
                  <a:srgbClr val="1B2428"/>
                </a:solidFill>
              </a:rPr>
              <a:t>Age, Gender, Family history</a:t>
            </a:r>
            <a:endParaRPr lang="en-US" sz="1200" dirty="0"/>
          </a:p>
        </p:txBody>
      </p:sp>
      <p:sp>
        <p:nvSpPr>
          <p:cNvPr id="9" name="card"/>
          <p:cNvSpPr/>
          <p:nvPr/>
        </p:nvSpPr>
        <p:spPr>
          <a:xfrm>
            <a:off x="3364992" y="4892040"/>
            <a:ext cx="2633472" cy="1325880"/>
          </a:xfrm>
          <a:prstGeom prst="roundRect">
            <a:avLst>
              <a:gd name="adj" fmla="val 8276"/>
            </a:avLst>
          </a:prstGeom>
          <a:solidFill>
            <a:srgbClr val="EEF6F5"/>
          </a:solidFill>
          <a:ln w="12700">
            <a:solidFill>
              <a:srgbClr val="EEF6F5"/>
            </a:solidFill>
            <a:prstDash val="solid"/>
          </a:ln>
        </p:spPr>
      </p:sp>
      <p:sp>
        <p:nvSpPr>
          <p:cNvPr id="10" name="feature group icon 2 circle"/>
          <p:cNvSpPr/>
          <p:nvPr/>
        </p:nvSpPr>
        <p:spPr>
          <a:xfrm>
            <a:off x="3547872" y="5074920"/>
            <a:ext cx="457200" cy="457200"/>
          </a:xfrm>
          <a:prstGeom prst="ellipse">
            <a:avLst/>
          </a:prstGeom>
          <a:solidFill>
            <a:srgbClr val="13A89E"/>
          </a:solidFill>
          <a:ln w="12700">
            <a:solidFill>
              <a:srgbClr val="13A89E"/>
            </a:solidFill>
            <a:prstDash val="solid"/>
          </a:ln>
        </p:spPr>
      </p:sp>
      <p:pic>
        <p:nvPicPr>
          <p:cNvPr id="11" name="feature group icon 2" descr="preencoded.png">    </p:cNvPr>
          <p:cNvPicPr>
            <a:picLocks noChangeAspect="1"/>
          </p:cNvPicPr>
          <p:nvPr/>
        </p:nvPicPr>
        <p:blipFill>
          <a:blip r:embed="rId3"/>
          <a:stretch>
            <a:fillRect/>
          </a:stretch>
        </p:blipFill>
        <p:spPr>
          <a:xfrm>
            <a:off x="3662172" y="5189220"/>
            <a:ext cx="228600" cy="228600"/>
          </a:xfrm>
          <a:prstGeom prst="rect">
            <a:avLst/>
          </a:prstGeom>
        </p:spPr>
      </p:pic>
      <p:sp>
        <p:nvSpPr>
          <p:cNvPr id="12" name="Text 7"/>
          <p:cNvSpPr txBox="1"/>
          <p:nvPr/>
        </p:nvSpPr>
        <p:spPr>
          <a:xfrm>
            <a:off x="4114800" y="5120640"/>
            <a:ext cx="1783080" cy="365760"/>
          </a:xfrm>
          <a:prstGeom prst="rect">
            <a:avLst/>
          </a:prstGeom>
          <a:noFill/>
          <a:ln/>
        </p:spPr>
        <p:txBody>
          <a:bodyPr wrap="square" lIns="0" tIns="0" rIns="0" bIns="0" rtlCol="0" anchor="ctr"/>
          <a:lstStyle/>
          <a:p>
            <a:pPr indent="0" marL="0">
              <a:buNone/>
            </a:pPr>
            <a:r>
              <a:rPr lang="en-US" sz="1500" b="1" dirty="0">
                <a:solidFill>
                  <a:srgbClr val="0E3B3D"/>
                </a:solidFill>
              </a:rPr>
              <a:t>Blood tests</a:t>
            </a:r>
            <a:endParaRPr lang="en-US" sz="1500" dirty="0"/>
          </a:p>
        </p:txBody>
      </p:sp>
      <p:sp>
        <p:nvSpPr>
          <p:cNvPr id="13" name="Text 8"/>
          <p:cNvSpPr txBox="1"/>
          <p:nvPr/>
        </p:nvSpPr>
        <p:spPr>
          <a:xfrm>
            <a:off x="3547872" y="5577840"/>
            <a:ext cx="2331720" cy="594360"/>
          </a:xfrm>
          <a:prstGeom prst="rect">
            <a:avLst/>
          </a:prstGeom>
          <a:noFill/>
          <a:ln/>
        </p:spPr>
        <p:txBody>
          <a:bodyPr wrap="square" lIns="0" tIns="0" rIns="0" bIns="0" rtlCol="0" anchor="t"/>
          <a:lstStyle/>
          <a:p>
            <a:pPr indent="0" marL="0">
              <a:buNone/>
            </a:pPr>
            <a:r>
              <a:rPr lang="en-US" sz="1200" dirty="0">
                <a:solidFill>
                  <a:srgbClr val="1B2428"/>
                </a:solidFill>
              </a:rPr>
              <a:t>Hemoglobin, HbF, RDW-CV, Ferritin, Sickled RBC</a:t>
            </a:r>
            <a:endParaRPr lang="en-US" sz="1200" dirty="0"/>
          </a:p>
        </p:txBody>
      </p:sp>
      <p:sp>
        <p:nvSpPr>
          <p:cNvPr id="14" name="card"/>
          <p:cNvSpPr/>
          <p:nvPr/>
        </p:nvSpPr>
        <p:spPr>
          <a:xfrm>
            <a:off x="6181344" y="4892040"/>
            <a:ext cx="2633472" cy="1325880"/>
          </a:xfrm>
          <a:prstGeom prst="roundRect">
            <a:avLst>
              <a:gd name="adj" fmla="val 8276"/>
            </a:avLst>
          </a:prstGeom>
          <a:solidFill>
            <a:srgbClr val="EEF6F5"/>
          </a:solidFill>
          <a:ln w="12700">
            <a:solidFill>
              <a:srgbClr val="EEF6F5"/>
            </a:solidFill>
            <a:prstDash val="solid"/>
          </a:ln>
        </p:spPr>
      </p:sp>
      <p:sp>
        <p:nvSpPr>
          <p:cNvPr id="15" name="feature group icon 3 circle"/>
          <p:cNvSpPr/>
          <p:nvPr/>
        </p:nvSpPr>
        <p:spPr>
          <a:xfrm>
            <a:off x="6364224" y="5074920"/>
            <a:ext cx="457200" cy="457200"/>
          </a:xfrm>
          <a:prstGeom prst="ellipse">
            <a:avLst/>
          </a:prstGeom>
          <a:solidFill>
            <a:srgbClr val="13A89E"/>
          </a:solidFill>
          <a:ln w="12700">
            <a:solidFill>
              <a:srgbClr val="13A89E"/>
            </a:solidFill>
            <a:prstDash val="solid"/>
          </a:ln>
        </p:spPr>
      </p:sp>
      <p:pic>
        <p:nvPicPr>
          <p:cNvPr id="16" name="feature group icon 3" descr="preencoded.png">    </p:cNvPr>
          <p:cNvPicPr>
            <a:picLocks noChangeAspect="1"/>
          </p:cNvPicPr>
          <p:nvPr/>
        </p:nvPicPr>
        <p:blipFill>
          <a:blip r:embed="rId4"/>
          <a:stretch>
            <a:fillRect/>
          </a:stretch>
        </p:blipFill>
        <p:spPr>
          <a:xfrm>
            <a:off x="6478524" y="5189220"/>
            <a:ext cx="228600" cy="228600"/>
          </a:xfrm>
          <a:prstGeom prst="rect">
            <a:avLst/>
          </a:prstGeom>
        </p:spPr>
      </p:pic>
      <p:sp>
        <p:nvSpPr>
          <p:cNvPr id="17" name="Text 11"/>
          <p:cNvSpPr txBox="1"/>
          <p:nvPr/>
        </p:nvSpPr>
        <p:spPr>
          <a:xfrm>
            <a:off x="6931152" y="5120640"/>
            <a:ext cx="1783080" cy="365760"/>
          </a:xfrm>
          <a:prstGeom prst="rect">
            <a:avLst/>
          </a:prstGeom>
          <a:noFill/>
          <a:ln/>
        </p:spPr>
        <p:txBody>
          <a:bodyPr wrap="square" lIns="0" tIns="0" rIns="0" bIns="0" rtlCol="0" anchor="ctr"/>
          <a:lstStyle/>
          <a:p>
            <a:pPr indent="0" marL="0">
              <a:buNone/>
            </a:pPr>
            <a:r>
              <a:rPr lang="en-US" sz="1500" b="1" dirty="0">
                <a:solidFill>
                  <a:srgbClr val="0E3B3D"/>
                </a:solidFill>
              </a:rPr>
              <a:t>Genetic markers</a:t>
            </a:r>
            <a:endParaRPr lang="en-US" sz="1500" dirty="0"/>
          </a:p>
        </p:txBody>
      </p:sp>
      <p:sp>
        <p:nvSpPr>
          <p:cNvPr id="18" name="Text 12"/>
          <p:cNvSpPr txBox="1"/>
          <p:nvPr/>
        </p:nvSpPr>
        <p:spPr>
          <a:xfrm>
            <a:off x="6364224" y="5577840"/>
            <a:ext cx="2331720" cy="594360"/>
          </a:xfrm>
          <a:prstGeom prst="rect">
            <a:avLst/>
          </a:prstGeom>
          <a:noFill/>
          <a:ln/>
        </p:spPr>
        <p:txBody>
          <a:bodyPr wrap="square" lIns="0" tIns="0" rIns="0" bIns="0" rtlCol="0" anchor="t"/>
          <a:lstStyle/>
          <a:p>
            <a:pPr indent="0" marL="0">
              <a:buNone/>
            </a:pPr>
            <a:r>
              <a:rPr lang="en-US" sz="1200" dirty="0">
                <a:solidFill>
                  <a:srgbClr val="1B2428"/>
                </a:solidFill>
              </a:rPr>
              <a:t>BRCA1 expression, p53 (TP53) mutation</a:t>
            </a:r>
            <a:endParaRPr lang="en-US" sz="1200" dirty="0"/>
          </a:p>
        </p:txBody>
      </p:sp>
      <p:sp>
        <p:nvSpPr>
          <p:cNvPr id="19" name="card"/>
          <p:cNvSpPr/>
          <p:nvPr/>
        </p:nvSpPr>
        <p:spPr>
          <a:xfrm>
            <a:off x="8997696" y="4892040"/>
            <a:ext cx="2633472" cy="1325880"/>
          </a:xfrm>
          <a:prstGeom prst="roundRect">
            <a:avLst>
              <a:gd name="adj" fmla="val 8276"/>
            </a:avLst>
          </a:prstGeom>
          <a:solidFill>
            <a:srgbClr val="EEF6F5"/>
          </a:solidFill>
          <a:ln w="12700">
            <a:solidFill>
              <a:srgbClr val="EEF6F5"/>
            </a:solidFill>
            <a:prstDash val="solid"/>
          </a:ln>
        </p:spPr>
      </p:sp>
      <p:sp>
        <p:nvSpPr>
          <p:cNvPr id="20" name="feature group icon 4 circle"/>
          <p:cNvSpPr/>
          <p:nvPr/>
        </p:nvSpPr>
        <p:spPr>
          <a:xfrm>
            <a:off x="9180576" y="5074920"/>
            <a:ext cx="457200" cy="457200"/>
          </a:xfrm>
          <a:prstGeom prst="ellipse">
            <a:avLst/>
          </a:prstGeom>
          <a:solidFill>
            <a:srgbClr val="13A89E"/>
          </a:solidFill>
          <a:ln w="12700">
            <a:solidFill>
              <a:srgbClr val="13A89E"/>
            </a:solidFill>
            <a:prstDash val="solid"/>
          </a:ln>
        </p:spPr>
      </p:sp>
      <p:pic>
        <p:nvPicPr>
          <p:cNvPr id="21" name="feature group icon 4" descr="preencoded.png">    </p:cNvPr>
          <p:cNvPicPr>
            <a:picLocks noChangeAspect="1"/>
          </p:cNvPicPr>
          <p:nvPr/>
        </p:nvPicPr>
        <p:blipFill>
          <a:blip r:embed="rId5"/>
          <a:stretch>
            <a:fillRect/>
          </a:stretch>
        </p:blipFill>
        <p:spPr>
          <a:xfrm>
            <a:off x="9294876" y="5189220"/>
            <a:ext cx="228600" cy="228600"/>
          </a:xfrm>
          <a:prstGeom prst="rect">
            <a:avLst/>
          </a:prstGeom>
        </p:spPr>
      </p:pic>
      <p:sp>
        <p:nvSpPr>
          <p:cNvPr id="22" name="Text 15"/>
          <p:cNvSpPr txBox="1"/>
          <p:nvPr/>
        </p:nvSpPr>
        <p:spPr>
          <a:xfrm>
            <a:off x="9747504" y="5120640"/>
            <a:ext cx="1783080" cy="365760"/>
          </a:xfrm>
          <a:prstGeom prst="rect">
            <a:avLst/>
          </a:prstGeom>
          <a:noFill/>
          <a:ln/>
        </p:spPr>
        <p:txBody>
          <a:bodyPr wrap="square" lIns="0" tIns="0" rIns="0" bIns="0" rtlCol="0" anchor="ctr"/>
          <a:lstStyle/>
          <a:p>
            <a:pPr indent="0" marL="0">
              <a:buNone/>
            </a:pPr>
            <a:r>
              <a:rPr lang="en-US" sz="1500" b="1" dirty="0">
                <a:solidFill>
                  <a:srgbClr val="0E3B3D"/>
                </a:solidFill>
              </a:rPr>
              <a:t>Other tests</a:t>
            </a:r>
            <a:endParaRPr lang="en-US" sz="1500" dirty="0"/>
          </a:p>
        </p:txBody>
      </p:sp>
      <p:sp>
        <p:nvSpPr>
          <p:cNvPr id="23" name="Text 16"/>
          <p:cNvSpPr txBox="1"/>
          <p:nvPr/>
        </p:nvSpPr>
        <p:spPr>
          <a:xfrm>
            <a:off x="9180576" y="5577840"/>
            <a:ext cx="2331720" cy="594360"/>
          </a:xfrm>
          <a:prstGeom prst="rect">
            <a:avLst/>
          </a:prstGeom>
          <a:noFill/>
          <a:ln/>
        </p:spPr>
        <p:txBody>
          <a:bodyPr wrap="square" lIns="0" tIns="0" rIns="0" bIns="0" rtlCol="0" anchor="t"/>
          <a:lstStyle/>
          <a:p>
            <a:pPr indent="0" marL="0">
              <a:buNone/>
            </a:pPr>
            <a:r>
              <a:rPr lang="en-US" sz="1200" dirty="0">
                <a:solidFill>
                  <a:srgbClr val="1B2428"/>
                </a:solidFill>
              </a:rPr>
              <a:t>Sweat chloride, IL-6 level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The 5 genetic diseases we predict</a:t>
            </a:r>
            <a:endParaRPr lang="en-US" sz="3200" dirty="0"/>
          </a:p>
        </p:txBody>
      </p:sp>
      <p:sp>
        <p:nvSpPr>
          <p:cNvPr id="3" name="card"/>
          <p:cNvSpPr/>
          <p:nvPr/>
        </p:nvSpPr>
        <p:spPr>
          <a:xfrm>
            <a:off x="548640" y="1463040"/>
            <a:ext cx="2066544" cy="3931920"/>
          </a:xfrm>
          <a:prstGeom prst="roundRect">
            <a:avLst>
              <a:gd name="adj" fmla="val 5310"/>
            </a:avLst>
          </a:prstGeom>
          <a:solidFill>
            <a:srgbClr val="EEF6F5"/>
          </a:solidFill>
          <a:ln w="12700">
            <a:solidFill>
              <a:srgbClr val="EEF6F5"/>
            </a:solidFill>
            <a:prstDash val="solid"/>
          </a:ln>
        </p:spPr>
      </p:sp>
      <p:sp>
        <p:nvSpPr>
          <p:cNvPr id="4" name="Thalassemia icon circle"/>
          <p:cNvSpPr/>
          <p:nvPr/>
        </p:nvSpPr>
        <p:spPr>
          <a:xfrm>
            <a:off x="1124712" y="1783080"/>
            <a:ext cx="914400" cy="914400"/>
          </a:xfrm>
          <a:prstGeom prst="ellipse">
            <a:avLst/>
          </a:prstGeom>
          <a:solidFill>
            <a:srgbClr val="0D9488"/>
          </a:solidFill>
          <a:ln w="12700">
            <a:solidFill>
              <a:srgbClr val="0D9488"/>
            </a:solidFill>
            <a:prstDash val="solid"/>
          </a:ln>
        </p:spPr>
      </p:sp>
      <p:pic>
        <p:nvPicPr>
          <p:cNvPr id="5" name="Thalassemia icon" descr="preencoded.png">    </p:cNvPr>
          <p:cNvPicPr>
            <a:picLocks noChangeAspect="1"/>
          </p:cNvPicPr>
          <p:nvPr/>
        </p:nvPicPr>
        <p:blipFill>
          <a:blip r:embed="rId1"/>
          <a:stretch>
            <a:fillRect/>
          </a:stretch>
        </p:blipFill>
        <p:spPr>
          <a:xfrm>
            <a:off x="1353312" y="2011680"/>
            <a:ext cx="457200" cy="457200"/>
          </a:xfrm>
          <a:prstGeom prst="rect">
            <a:avLst/>
          </a:prstGeom>
        </p:spPr>
      </p:pic>
      <p:sp>
        <p:nvSpPr>
          <p:cNvPr id="6" name="Text 3"/>
          <p:cNvSpPr txBox="1"/>
          <p:nvPr/>
        </p:nvSpPr>
        <p:spPr>
          <a:xfrm>
            <a:off x="685800" y="2880360"/>
            <a:ext cx="1792224" cy="731520"/>
          </a:xfrm>
          <a:prstGeom prst="rect">
            <a:avLst/>
          </a:prstGeom>
          <a:noFill/>
          <a:ln/>
        </p:spPr>
        <p:txBody>
          <a:bodyPr wrap="square" lIns="0" tIns="0" rIns="0" bIns="0" rtlCol="0" anchor="ctr"/>
          <a:lstStyle/>
          <a:p>
            <a:pPr algn="ctr" indent="0" marL="0">
              <a:buNone/>
            </a:pPr>
            <a:r>
              <a:rPr lang="en-US" sz="1700" b="1" dirty="0">
                <a:solidFill>
                  <a:srgbClr val="0D9488"/>
                </a:solidFill>
              </a:rPr>
              <a:t>Thalassemia</a:t>
            </a:r>
            <a:endParaRPr lang="en-US" sz="1700" dirty="0"/>
          </a:p>
        </p:txBody>
      </p:sp>
      <p:sp>
        <p:nvSpPr>
          <p:cNvPr id="7" name="Text 4"/>
          <p:cNvSpPr txBox="1"/>
          <p:nvPr/>
        </p:nvSpPr>
        <p:spPr>
          <a:xfrm>
            <a:off x="731520" y="3749040"/>
            <a:ext cx="1700784" cy="274320"/>
          </a:xfrm>
          <a:prstGeom prst="rect">
            <a:avLst/>
          </a:prstGeom>
          <a:noFill/>
          <a:ln/>
        </p:spPr>
        <p:txBody>
          <a:bodyPr wrap="square" lIns="0" tIns="0" rIns="0" bIns="0" rtlCol="0" anchor="ctr"/>
          <a:lstStyle/>
          <a:p>
            <a:pPr indent="0" marL="0">
              <a:buNone/>
            </a:pPr>
            <a:r>
              <a:rPr lang="en-US" sz="1200" b="1" dirty="0">
                <a:solidFill>
                  <a:srgbClr val="5B6B70"/>
                </a:solidFill>
              </a:rPr>
              <a:t>Key sign</a:t>
            </a:r>
            <a:endParaRPr lang="en-US" sz="1200" dirty="0"/>
          </a:p>
        </p:txBody>
      </p:sp>
      <p:sp>
        <p:nvSpPr>
          <p:cNvPr id="8" name="Text 5"/>
          <p:cNvSpPr txBox="1"/>
          <p:nvPr/>
        </p:nvSpPr>
        <p:spPr>
          <a:xfrm>
            <a:off x="731520" y="4069080"/>
            <a:ext cx="1700784" cy="1737360"/>
          </a:xfrm>
          <a:prstGeom prst="rect">
            <a:avLst/>
          </a:prstGeom>
          <a:noFill/>
          <a:ln/>
        </p:spPr>
        <p:txBody>
          <a:bodyPr wrap="square" lIns="0" tIns="0" rIns="0" bIns="0" rtlCol="0" anchor="t"/>
          <a:lstStyle/>
          <a:p>
            <a:pPr indent="0" marL="0">
              <a:buNone/>
            </a:pPr>
            <a:r>
              <a:rPr lang="en-US" sz="1300" dirty="0">
                <a:solidFill>
                  <a:srgbClr val="1B2428"/>
                </a:solidFill>
              </a:rPr>
              <a:t>Low hemoglobin, high fetal hemoglobin (HbF)</a:t>
            </a:r>
            <a:endParaRPr lang="en-US" sz="1300" dirty="0"/>
          </a:p>
        </p:txBody>
      </p:sp>
      <p:sp>
        <p:nvSpPr>
          <p:cNvPr id="9" name="card"/>
          <p:cNvSpPr/>
          <p:nvPr/>
        </p:nvSpPr>
        <p:spPr>
          <a:xfrm>
            <a:off x="2798064" y="1463040"/>
            <a:ext cx="2066544" cy="3931920"/>
          </a:xfrm>
          <a:prstGeom prst="roundRect">
            <a:avLst>
              <a:gd name="adj" fmla="val 5310"/>
            </a:avLst>
          </a:prstGeom>
          <a:solidFill>
            <a:srgbClr val="EEF6F5"/>
          </a:solidFill>
          <a:ln w="12700">
            <a:solidFill>
              <a:srgbClr val="EEF6F5"/>
            </a:solidFill>
            <a:prstDash val="solid"/>
          </a:ln>
        </p:spPr>
      </p:sp>
      <p:sp>
        <p:nvSpPr>
          <p:cNvPr id="10" name="Hemophilia icon circle"/>
          <p:cNvSpPr/>
          <p:nvPr/>
        </p:nvSpPr>
        <p:spPr>
          <a:xfrm>
            <a:off x="3374136" y="1783080"/>
            <a:ext cx="914400" cy="914400"/>
          </a:xfrm>
          <a:prstGeom prst="ellipse">
            <a:avLst/>
          </a:prstGeom>
          <a:solidFill>
            <a:srgbClr val="DC2626"/>
          </a:solidFill>
          <a:ln w="12700">
            <a:solidFill>
              <a:srgbClr val="DC2626"/>
            </a:solidFill>
            <a:prstDash val="solid"/>
          </a:ln>
        </p:spPr>
      </p:sp>
      <p:pic>
        <p:nvPicPr>
          <p:cNvPr id="11" name="Hemophilia icon" descr="preencoded.png">    </p:cNvPr>
          <p:cNvPicPr>
            <a:picLocks noChangeAspect="1"/>
          </p:cNvPicPr>
          <p:nvPr/>
        </p:nvPicPr>
        <p:blipFill>
          <a:blip r:embed="rId2"/>
          <a:stretch>
            <a:fillRect/>
          </a:stretch>
        </p:blipFill>
        <p:spPr>
          <a:xfrm>
            <a:off x="3602736" y="2011680"/>
            <a:ext cx="457200" cy="457200"/>
          </a:xfrm>
          <a:prstGeom prst="rect">
            <a:avLst/>
          </a:prstGeom>
        </p:spPr>
      </p:pic>
      <p:sp>
        <p:nvSpPr>
          <p:cNvPr id="12" name="Text 8"/>
          <p:cNvSpPr txBox="1"/>
          <p:nvPr/>
        </p:nvSpPr>
        <p:spPr>
          <a:xfrm>
            <a:off x="2935224" y="2880360"/>
            <a:ext cx="1792224" cy="731520"/>
          </a:xfrm>
          <a:prstGeom prst="rect">
            <a:avLst/>
          </a:prstGeom>
          <a:noFill/>
          <a:ln/>
        </p:spPr>
        <p:txBody>
          <a:bodyPr wrap="square" lIns="0" tIns="0" rIns="0" bIns="0" rtlCol="0" anchor="ctr"/>
          <a:lstStyle/>
          <a:p>
            <a:pPr algn="ctr" indent="0" marL="0">
              <a:buNone/>
            </a:pPr>
            <a:r>
              <a:rPr lang="en-US" sz="1700" b="1" dirty="0">
                <a:solidFill>
                  <a:srgbClr val="DC2626"/>
                </a:solidFill>
              </a:rPr>
              <a:t>Hemophilia</a:t>
            </a:r>
            <a:endParaRPr lang="en-US" sz="1700" dirty="0"/>
          </a:p>
        </p:txBody>
      </p:sp>
      <p:sp>
        <p:nvSpPr>
          <p:cNvPr id="13" name="Text 9"/>
          <p:cNvSpPr txBox="1"/>
          <p:nvPr/>
        </p:nvSpPr>
        <p:spPr>
          <a:xfrm>
            <a:off x="2980944" y="3749040"/>
            <a:ext cx="1700784" cy="274320"/>
          </a:xfrm>
          <a:prstGeom prst="rect">
            <a:avLst/>
          </a:prstGeom>
          <a:noFill/>
          <a:ln/>
        </p:spPr>
        <p:txBody>
          <a:bodyPr wrap="square" lIns="0" tIns="0" rIns="0" bIns="0" rtlCol="0" anchor="ctr"/>
          <a:lstStyle/>
          <a:p>
            <a:pPr indent="0" marL="0">
              <a:buNone/>
            </a:pPr>
            <a:r>
              <a:rPr lang="en-US" sz="1200" b="1" dirty="0">
                <a:solidFill>
                  <a:srgbClr val="5B6B70"/>
                </a:solidFill>
              </a:rPr>
              <a:t>Key sign</a:t>
            </a:r>
            <a:endParaRPr lang="en-US" sz="1200" dirty="0"/>
          </a:p>
        </p:txBody>
      </p:sp>
      <p:sp>
        <p:nvSpPr>
          <p:cNvPr id="14" name="Text 10"/>
          <p:cNvSpPr txBox="1"/>
          <p:nvPr/>
        </p:nvSpPr>
        <p:spPr>
          <a:xfrm>
            <a:off x="2980944" y="4069080"/>
            <a:ext cx="1700784" cy="1737360"/>
          </a:xfrm>
          <a:prstGeom prst="rect">
            <a:avLst/>
          </a:prstGeom>
          <a:noFill/>
          <a:ln/>
        </p:spPr>
        <p:txBody>
          <a:bodyPr wrap="square" lIns="0" tIns="0" rIns="0" bIns="0" rtlCol="0" anchor="t"/>
          <a:lstStyle/>
          <a:p>
            <a:pPr indent="0" marL="0">
              <a:buNone/>
            </a:pPr>
            <a:r>
              <a:rPr lang="en-US" sz="1300" dirty="0">
                <a:solidFill>
                  <a:srgbClr val="1B2428"/>
                </a:solidFill>
              </a:rPr>
              <a:t>Inherited clotting-factor disorder; blood does not clot properly</a:t>
            </a:r>
            <a:endParaRPr lang="en-US" sz="1300" dirty="0"/>
          </a:p>
        </p:txBody>
      </p:sp>
      <p:sp>
        <p:nvSpPr>
          <p:cNvPr id="15" name="card"/>
          <p:cNvSpPr/>
          <p:nvPr/>
        </p:nvSpPr>
        <p:spPr>
          <a:xfrm>
            <a:off x="5047488" y="1463040"/>
            <a:ext cx="2066544" cy="3931920"/>
          </a:xfrm>
          <a:prstGeom prst="roundRect">
            <a:avLst>
              <a:gd name="adj" fmla="val 5310"/>
            </a:avLst>
          </a:prstGeom>
          <a:solidFill>
            <a:srgbClr val="EEF6F5"/>
          </a:solidFill>
          <a:ln w="12700">
            <a:solidFill>
              <a:srgbClr val="EEF6F5"/>
            </a:solidFill>
            <a:prstDash val="solid"/>
          </a:ln>
        </p:spPr>
      </p:sp>
      <p:sp>
        <p:nvSpPr>
          <p:cNvPr id="16" name="Breast Cancer icon circle"/>
          <p:cNvSpPr/>
          <p:nvPr/>
        </p:nvSpPr>
        <p:spPr>
          <a:xfrm>
            <a:off x="5623560" y="1783080"/>
            <a:ext cx="914400" cy="914400"/>
          </a:xfrm>
          <a:prstGeom prst="ellipse">
            <a:avLst/>
          </a:prstGeom>
          <a:solidFill>
            <a:srgbClr val="DB2777"/>
          </a:solidFill>
          <a:ln w="12700">
            <a:solidFill>
              <a:srgbClr val="DB2777"/>
            </a:solidFill>
            <a:prstDash val="solid"/>
          </a:ln>
        </p:spPr>
      </p:sp>
      <p:pic>
        <p:nvPicPr>
          <p:cNvPr id="17" name="Breast Cancer icon" descr="preencoded.png">    </p:cNvPr>
          <p:cNvPicPr>
            <a:picLocks noChangeAspect="1"/>
          </p:cNvPicPr>
          <p:nvPr/>
        </p:nvPicPr>
        <p:blipFill>
          <a:blip r:embed="rId3"/>
          <a:stretch>
            <a:fillRect/>
          </a:stretch>
        </p:blipFill>
        <p:spPr>
          <a:xfrm>
            <a:off x="5852160" y="2011680"/>
            <a:ext cx="457200" cy="457200"/>
          </a:xfrm>
          <a:prstGeom prst="rect">
            <a:avLst/>
          </a:prstGeom>
        </p:spPr>
      </p:pic>
      <p:sp>
        <p:nvSpPr>
          <p:cNvPr id="18" name="Text 13"/>
          <p:cNvSpPr txBox="1"/>
          <p:nvPr/>
        </p:nvSpPr>
        <p:spPr>
          <a:xfrm>
            <a:off x="5184648" y="2880360"/>
            <a:ext cx="1792224" cy="731520"/>
          </a:xfrm>
          <a:prstGeom prst="rect">
            <a:avLst/>
          </a:prstGeom>
          <a:noFill/>
          <a:ln/>
        </p:spPr>
        <p:txBody>
          <a:bodyPr wrap="square" lIns="0" tIns="0" rIns="0" bIns="0" rtlCol="0" anchor="ctr"/>
          <a:lstStyle/>
          <a:p>
            <a:pPr algn="ctr" indent="0" marL="0">
              <a:buNone/>
            </a:pPr>
            <a:r>
              <a:rPr lang="en-US" sz="1700" b="1" dirty="0">
                <a:solidFill>
                  <a:srgbClr val="DB2777"/>
                </a:solidFill>
              </a:rPr>
              <a:t>Breast Cancer</a:t>
            </a:r>
            <a:endParaRPr lang="en-US" sz="1700" dirty="0"/>
          </a:p>
        </p:txBody>
      </p:sp>
      <p:sp>
        <p:nvSpPr>
          <p:cNvPr id="19" name="Text 14"/>
          <p:cNvSpPr txBox="1"/>
          <p:nvPr/>
        </p:nvSpPr>
        <p:spPr>
          <a:xfrm>
            <a:off x="5230368" y="3749040"/>
            <a:ext cx="1700784" cy="274320"/>
          </a:xfrm>
          <a:prstGeom prst="rect">
            <a:avLst/>
          </a:prstGeom>
          <a:noFill/>
          <a:ln/>
        </p:spPr>
        <p:txBody>
          <a:bodyPr wrap="square" lIns="0" tIns="0" rIns="0" bIns="0" rtlCol="0" anchor="ctr"/>
          <a:lstStyle/>
          <a:p>
            <a:pPr indent="0" marL="0">
              <a:buNone/>
            </a:pPr>
            <a:r>
              <a:rPr lang="en-US" sz="1200" b="1" dirty="0">
                <a:solidFill>
                  <a:srgbClr val="5B6B70"/>
                </a:solidFill>
              </a:rPr>
              <a:t>Key sign</a:t>
            </a:r>
            <a:endParaRPr lang="en-US" sz="1200" dirty="0"/>
          </a:p>
        </p:txBody>
      </p:sp>
      <p:sp>
        <p:nvSpPr>
          <p:cNvPr id="20" name="Text 15"/>
          <p:cNvSpPr txBox="1"/>
          <p:nvPr/>
        </p:nvSpPr>
        <p:spPr>
          <a:xfrm>
            <a:off x="5230368" y="4069080"/>
            <a:ext cx="1700784" cy="1737360"/>
          </a:xfrm>
          <a:prstGeom prst="rect">
            <a:avLst/>
          </a:prstGeom>
          <a:noFill/>
          <a:ln/>
        </p:spPr>
        <p:txBody>
          <a:bodyPr wrap="square" lIns="0" tIns="0" rIns="0" bIns="0" rtlCol="0" anchor="t"/>
          <a:lstStyle/>
          <a:p>
            <a:pPr indent="0" marL="0">
              <a:buNone/>
            </a:pPr>
            <a:r>
              <a:rPr lang="en-US" sz="1300" dirty="0">
                <a:solidFill>
                  <a:srgbClr val="1B2428"/>
                </a:solidFill>
              </a:rPr>
              <a:t>High BRCA1 expression, p53 (TP53) mutation</a:t>
            </a:r>
            <a:endParaRPr lang="en-US" sz="1300" dirty="0"/>
          </a:p>
        </p:txBody>
      </p:sp>
      <p:sp>
        <p:nvSpPr>
          <p:cNvPr id="21" name="card"/>
          <p:cNvSpPr/>
          <p:nvPr/>
        </p:nvSpPr>
        <p:spPr>
          <a:xfrm>
            <a:off x="7296912" y="1463040"/>
            <a:ext cx="2066544" cy="3931920"/>
          </a:xfrm>
          <a:prstGeom prst="roundRect">
            <a:avLst>
              <a:gd name="adj" fmla="val 5310"/>
            </a:avLst>
          </a:prstGeom>
          <a:solidFill>
            <a:srgbClr val="EEF6F5"/>
          </a:solidFill>
          <a:ln w="12700">
            <a:solidFill>
              <a:srgbClr val="EEF6F5"/>
            </a:solidFill>
            <a:prstDash val="solid"/>
          </a:ln>
        </p:spPr>
      </p:sp>
      <p:sp>
        <p:nvSpPr>
          <p:cNvPr id="22" name="Sickle Cell Anemia icon circle"/>
          <p:cNvSpPr/>
          <p:nvPr/>
        </p:nvSpPr>
        <p:spPr>
          <a:xfrm>
            <a:off x="7872984" y="1783080"/>
            <a:ext cx="914400" cy="914400"/>
          </a:xfrm>
          <a:prstGeom prst="ellipse">
            <a:avLst/>
          </a:prstGeom>
          <a:solidFill>
            <a:srgbClr val="D97706"/>
          </a:solidFill>
          <a:ln w="12700">
            <a:solidFill>
              <a:srgbClr val="D97706"/>
            </a:solidFill>
            <a:prstDash val="solid"/>
          </a:ln>
        </p:spPr>
      </p:sp>
      <p:pic>
        <p:nvPicPr>
          <p:cNvPr id="23" name="Sickle Cell Anemia icon" descr="preencoded.png">    </p:cNvPr>
          <p:cNvPicPr>
            <a:picLocks noChangeAspect="1"/>
          </p:cNvPicPr>
          <p:nvPr/>
        </p:nvPicPr>
        <p:blipFill>
          <a:blip r:embed="rId4"/>
          <a:stretch>
            <a:fillRect/>
          </a:stretch>
        </p:blipFill>
        <p:spPr>
          <a:xfrm>
            <a:off x="8101584" y="2011680"/>
            <a:ext cx="457200" cy="457200"/>
          </a:xfrm>
          <a:prstGeom prst="rect">
            <a:avLst/>
          </a:prstGeom>
        </p:spPr>
      </p:pic>
      <p:sp>
        <p:nvSpPr>
          <p:cNvPr id="24" name="Text 18"/>
          <p:cNvSpPr txBox="1"/>
          <p:nvPr/>
        </p:nvSpPr>
        <p:spPr>
          <a:xfrm>
            <a:off x="7434072" y="2880360"/>
            <a:ext cx="1792224" cy="731520"/>
          </a:xfrm>
          <a:prstGeom prst="rect">
            <a:avLst/>
          </a:prstGeom>
          <a:noFill/>
          <a:ln/>
        </p:spPr>
        <p:txBody>
          <a:bodyPr wrap="square" lIns="0" tIns="0" rIns="0" bIns="0" rtlCol="0" anchor="ctr"/>
          <a:lstStyle/>
          <a:p>
            <a:pPr algn="ctr" indent="0" marL="0">
              <a:buNone/>
            </a:pPr>
            <a:r>
              <a:rPr lang="en-US" sz="1700" b="1" dirty="0">
                <a:solidFill>
                  <a:srgbClr val="D97706"/>
                </a:solidFill>
              </a:rPr>
              <a:t>Sickle Cell Anemia</a:t>
            </a:r>
            <a:endParaRPr lang="en-US" sz="1700" dirty="0"/>
          </a:p>
        </p:txBody>
      </p:sp>
      <p:sp>
        <p:nvSpPr>
          <p:cNvPr id="25" name="Text 19"/>
          <p:cNvSpPr txBox="1"/>
          <p:nvPr/>
        </p:nvSpPr>
        <p:spPr>
          <a:xfrm>
            <a:off x="7479792" y="3749040"/>
            <a:ext cx="1700784" cy="274320"/>
          </a:xfrm>
          <a:prstGeom prst="rect">
            <a:avLst/>
          </a:prstGeom>
          <a:noFill/>
          <a:ln/>
        </p:spPr>
        <p:txBody>
          <a:bodyPr wrap="square" lIns="0" tIns="0" rIns="0" bIns="0" rtlCol="0" anchor="ctr"/>
          <a:lstStyle/>
          <a:p>
            <a:pPr indent="0" marL="0">
              <a:buNone/>
            </a:pPr>
            <a:r>
              <a:rPr lang="en-US" sz="1200" b="1" dirty="0">
                <a:solidFill>
                  <a:srgbClr val="5B6B70"/>
                </a:solidFill>
              </a:rPr>
              <a:t>Key sign</a:t>
            </a:r>
            <a:endParaRPr lang="en-US" sz="1200" dirty="0"/>
          </a:p>
        </p:txBody>
      </p:sp>
      <p:sp>
        <p:nvSpPr>
          <p:cNvPr id="26" name="Text 20"/>
          <p:cNvSpPr txBox="1"/>
          <p:nvPr/>
        </p:nvSpPr>
        <p:spPr>
          <a:xfrm>
            <a:off x="7479792" y="4069080"/>
            <a:ext cx="1700784" cy="1737360"/>
          </a:xfrm>
          <a:prstGeom prst="rect">
            <a:avLst/>
          </a:prstGeom>
          <a:noFill/>
          <a:ln/>
        </p:spPr>
        <p:txBody>
          <a:bodyPr wrap="square" lIns="0" tIns="0" rIns="0" bIns="0" rtlCol="0" anchor="t"/>
          <a:lstStyle/>
          <a:p>
            <a:pPr indent="0" marL="0">
              <a:buNone/>
            </a:pPr>
            <a:r>
              <a:rPr lang="en-US" sz="1300" dirty="0">
                <a:solidFill>
                  <a:srgbClr val="1B2428"/>
                </a:solidFill>
              </a:rPr>
              <a:t>High share of sickled red blood cells</a:t>
            </a:r>
            <a:endParaRPr lang="en-US" sz="1300" dirty="0"/>
          </a:p>
        </p:txBody>
      </p:sp>
      <p:sp>
        <p:nvSpPr>
          <p:cNvPr id="27" name="card"/>
          <p:cNvSpPr/>
          <p:nvPr/>
        </p:nvSpPr>
        <p:spPr>
          <a:xfrm>
            <a:off x="9546336" y="1463040"/>
            <a:ext cx="2066544" cy="3931920"/>
          </a:xfrm>
          <a:prstGeom prst="roundRect">
            <a:avLst>
              <a:gd name="adj" fmla="val 5310"/>
            </a:avLst>
          </a:prstGeom>
          <a:solidFill>
            <a:srgbClr val="EEF6F5"/>
          </a:solidFill>
          <a:ln w="12700">
            <a:solidFill>
              <a:srgbClr val="EEF6F5"/>
            </a:solidFill>
            <a:prstDash val="solid"/>
          </a:ln>
        </p:spPr>
      </p:sp>
      <p:sp>
        <p:nvSpPr>
          <p:cNvPr id="28" name="Cystic Fibrosis icon circle"/>
          <p:cNvSpPr/>
          <p:nvPr/>
        </p:nvSpPr>
        <p:spPr>
          <a:xfrm>
            <a:off x="10122408" y="1783080"/>
            <a:ext cx="914400" cy="914400"/>
          </a:xfrm>
          <a:prstGeom prst="ellipse">
            <a:avLst/>
          </a:prstGeom>
          <a:solidFill>
            <a:srgbClr val="2563EB"/>
          </a:solidFill>
          <a:ln w="12700">
            <a:solidFill>
              <a:srgbClr val="2563EB"/>
            </a:solidFill>
            <a:prstDash val="solid"/>
          </a:ln>
        </p:spPr>
      </p:sp>
      <p:pic>
        <p:nvPicPr>
          <p:cNvPr id="29" name="Cystic Fibrosis icon" descr="preencoded.png">    </p:cNvPr>
          <p:cNvPicPr>
            <a:picLocks noChangeAspect="1"/>
          </p:cNvPicPr>
          <p:nvPr/>
        </p:nvPicPr>
        <p:blipFill>
          <a:blip r:embed="rId5"/>
          <a:stretch>
            <a:fillRect/>
          </a:stretch>
        </p:blipFill>
        <p:spPr>
          <a:xfrm>
            <a:off x="10351008" y="2011680"/>
            <a:ext cx="457200" cy="457200"/>
          </a:xfrm>
          <a:prstGeom prst="rect">
            <a:avLst/>
          </a:prstGeom>
        </p:spPr>
      </p:pic>
      <p:sp>
        <p:nvSpPr>
          <p:cNvPr id="30" name="Text 23"/>
          <p:cNvSpPr txBox="1"/>
          <p:nvPr/>
        </p:nvSpPr>
        <p:spPr>
          <a:xfrm>
            <a:off x="9683496" y="2880360"/>
            <a:ext cx="1792224" cy="731520"/>
          </a:xfrm>
          <a:prstGeom prst="rect">
            <a:avLst/>
          </a:prstGeom>
          <a:noFill/>
          <a:ln/>
        </p:spPr>
        <p:txBody>
          <a:bodyPr wrap="square" lIns="0" tIns="0" rIns="0" bIns="0" rtlCol="0" anchor="ctr"/>
          <a:lstStyle/>
          <a:p>
            <a:pPr algn="ctr" indent="0" marL="0">
              <a:buNone/>
            </a:pPr>
            <a:r>
              <a:rPr lang="en-US" sz="1700" b="1" dirty="0">
                <a:solidFill>
                  <a:srgbClr val="2563EB"/>
                </a:solidFill>
              </a:rPr>
              <a:t>Cystic Fibrosis</a:t>
            </a:r>
            <a:endParaRPr lang="en-US" sz="1700" dirty="0"/>
          </a:p>
        </p:txBody>
      </p:sp>
      <p:sp>
        <p:nvSpPr>
          <p:cNvPr id="31" name="Text 24"/>
          <p:cNvSpPr txBox="1"/>
          <p:nvPr/>
        </p:nvSpPr>
        <p:spPr>
          <a:xfrm>
            <a:off x="9729216" y="3749040"/>
            <a:ext cx="1700784" cy="274320"/>
          </a:xfrm>
          <a:prstGeom prst="rect">
            <a:avLst/>
          </a:prstGeom>
          <a:noFill/>
          <a:ln/>
        </p:spPr>
        <p:txBody>
          <a:bodyPr wrap="square" lIns="0" tIns="0" rIns="0" bIns="0" rtlCol="0" anchor="ctr"/>
          <a:lstStyle/>
          <a:p>
            <a:pPr indent="0" marL="0">
              <a:buNone/>
            </a:pPr>
            <a:r>
              <a:rPr lang="en-US" sz="1200" b="1" dirty="0">
                <a:solidFill>
                  <a:srgbClr val="5B6B70"/>
                </a:solidFill>
              </a:rPr>
              <a:t>Key sign</a:t>
            </a:r>
            <a:endParaRPr lang="en-US" sz="1200" dirty="0"/>
          </a:p>
        </p:txBody>
      </p:sp>
      <p:sp>
        <p:nvSpPr>
          <p:cNvPr id="32" name="Text 25"/>
          <p:cNvSpPr txBox="1"/>
          <p:nvPr/>
        </p:nvSpPr>
        <p:spPr>
          <a:xfrm>
            <a:off x="9729216" y="4069080"/>
            <a:ext cx="1700784" cy="1737360"/>
          </a:xfrm>
          <a:prstGeom prst="rect">
            <a:avLst/>
          </a:prstGeom>
          <a:noFill/>
          <a:ln/>
        </p:spPr>
        <p:txBody>
          <a:bodyPr wrap="square" lIns="0" tIns="0" rIns="0" bIns="0" rtlCol="0" anchor="t"/>
          <a:lstStyle/>
          <a:p>
            <a:pPr indent="0" marL="0">
              <a:buNone/>
            </a:pPr>
            <a:r>
              <a:rPr lang="en-US" sz="1300" dirty="0">
                <a:solidFill>
                  <a:srgbClr val="1B2428"/>
                </a:solidFill>
              </a:rPr>
              <a:t>High sweat chloride (60 mmol/L or more)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System pipeline</a:t>
            </a:r>
            <a:endParaRPr lang="en-US" sz="3200" dirty="0"/>
          </a:p>
        </p:txBody>
      </p:sp>
      <p:sp>
        <p:nvSpPr>
          <p:cNvPr id="3" name="pipeline step 1"/>
          <p:cNvSpPr/>
          <p:nvPr/>
        </p:nvSpPr>
        <p:spPr>
          <a:xfrm>
            <a:off x="548640" y="1737360"/>
            <a:ext cx="1645920" cy="3566160"/>
          </a:xfrm>
          <a:prstGeom prst="roundRect">
            <a:avLst>
              <a:gd name="adj" fmla="val 6667"/>
            </a:avLst>
          </a:prstGeom>
          <a:solidFill>
            <a:srgbClr val="EEF6F5"/>
          </a:solidFill>
          <a:ln w="12700">
            <a:solidFill>
              <a:srgbClr val="EEF6F5"/>
            </a:solidFill>
            <a:prstDash val="solid"/>
          </a:ln>
        </p:spPr>
      </p:sp>
      <p:sp>
        <p:nvSpPr>
          <p:cNvPr id="4" name="pipeline icon 1 circle"/>
          <p:cNvSpPr/>
          <p:nvPr/>
        </p:nvSpPr>
        <p:spPr>
          <a:xfrm>
            <a:off x="960120" y="2011680"/>
            <a:ext cx="822960" cy="822960"/>
          </a:xfrm>
          <a:prstGeom prst="ellipse">
            <a:avLst/>
          </a:prstGeom>
          <a:solidFill>
            <a:srgbClr val="13A89E"/>
          </a:solidFill>
          <a:ln w="12700">
            <a:solidFill>
              <a:srgbClr val="13A89E"/>
            </a:solidFill>
            <a:prstDash val="solid"/>
          </a:ln>
        </p:spPr>
      </p:sp>
      <p:pic>
        <p:nvPicPr>
          <p:cNvPr id="5" name="pipeline icon 1" descr="preencoded.png">    </p:cNvPr>
          <p:cNvPicPr>
            <a:picLocks noChangeAspect="1"/>
          </p:cNvPicPr>
          <p:nvPr/>
        </p:nvPicPr>
        <p:blipFill>
          <a:blip r:embed="rId1"/>
          <a:stretch>
            <a:fillRect/>
          </a:stretch>
        </p:blipFill>
        <p:spPr>
          <a:xfrm>
            <a:off x="1165860" y="2217420"/>
            <a:ext cx="411480" cy="411480"/>
          </a:xfrm>
          <a:prstGeom prst="rect">
            <a:avLst/>
          </a:prstGeom>
        </p:spPr>
      </p:pic>
      <p:sp>
        <p:nvSpPr>
          <p:cNvPr id="6" name="Text 3"/>
          <p:cNvSpPr txBox="1"/>
          <p:nvPr/>
        </p:nvSpPr>
        <p:spPr>
          <a:xfrm>
            <a:off x="685800" y="3017520"/>
            <a:ext cx="1371600" cy="320040"/>
          </a:xfrm>
          <a:prstGeom prst="rect">
            <a:avLst/>
          </a:prstGeom>
          <a:noFill/>
          <a:ln/>
        </p:spPr>
        <p:txBody>
          <a:bodyPr wrap="square" lIns="0" tIns="0" rIns="0" bIns="0" rtlCol="0" anchor="ctr"/>
          <a:lstStyle/>
          <a:p>
            <a:pPr algn="ctr" indent="0" marL="0">
              <a:buNone/>
            </a:pPr>
            <a:r>
              <a:rPr lang="en-US" sz="1300" b="1" dirty="0">
                <a:solidFill>
                  <a:srgbClr val="5B6B70"/>
                </a:solidFill>
              </a:rPr>
              <a:t>1</a:t>
            </a:r>
            <a:endParaRPr lang="en-US" sz="1300" dirty="0"/>
          </a:p>
        </p:txBody>
      </p:sp>
      <p:sp>
        <p:nvSpPr>
          <p:cNvPr id="7" name="Text 4"/>
          <p:cNvSpPr txBox="1"/>
          <p:nvPr/>
        </p:nvSpPr>
        <p:spPr>
          <a:xfrm>
            <a:off x="640080" y="3337560"/>
            <a:ext cx="1463040" cy="411480"/>
          </a:xfrm>
          <a:prstGeom prst="rect">
            <a:avLst/>
          </a:prstGeom>
          <a:noFill/>
          <a:ln/>
        </p:spPr>
        <p:txBody>
          <a:bodyPr wrap="square" lIns="0" tIns="0" rIns="0" bIns="0" rtlCol="0" anchor="ctr"/>
          <a:lstStyle/>
          <a:p>
            <a:pPr algn="ctr" indent="0" marL="0">
              <a:buNone/>
            </a:pPr>
            <a:r>
              <a:rPr lang="en-US" sz="1600" b="1" dirty="0">
                <a:solidFill>
                  <a:srgbClr val="0E3B3D"/>
                </a:solidFill>
              </a:rPr>
              <a:t>Ingestion</a:t>
            </a:r>
            <a:endParaRPr lang="en-US" sz="1600" dirty="0"/>
          </a:p>
        </p:txBody>
      </p:sp>
      <p:sp>
        <p:nvSpPr>
          <p:cNvPr id="8" name="Text 5"/>
          <p:cNvSpPr txBox="1"/>
          <p:nvPr/>
        </p:nvSpPr>
        <p:spPr>
          <a:xfrm>
            <a:off x="685800" y="3840480"/>
            <a:ext cx="1371600" cy="1325880"/>
          </a:xfrm>
          <a:prstGeom prst="rect">
            <a:avLst/>
          </a:prstGeom>
          <a:noFill/>
          <a:ln/>
        </p:spPr>
        <p:txBody>
          <a:bodyPr wrap="square" lIns="0" tIns="0" rIns="0" bIns="0" rtlCol="0" anchor="t"/>
          <a:lstStyle/>
          <a:p>
            <a:pPr algn="ctr" indent="0" marL="0">
              <a:buNone/>
            </a:pPr>
            <a:r>
              <a:rPr lang="en-US" sz="1200" dirty="0">
                <a:solidFill>
                  <a:srgbClr val="1B2428"/>
                </a:solidFill>
              </a:rPr>
              <a:t>Original file kept safe; a working copy is used</a:t>
            </a:r>
            <a:endParaRPr lang="en-US" sz="1200" dirty="0"/>
          </a:p>
        </p:txBody>
      </p:sp>
      <p:sp>
        <p:nvSpPr>
          <p:cNvPr id="9" name="arrow 1"/>
          <p:cNvSpPr/>
          <p:nvPr/>
        </p:nvSpPr>
        <p:spPr>
          <a:xfrm>
            <a:off x="2240280" y="3383280"/>
            <a:ext cx="146304" cy="320040"/>
          </a:xfrm>
          <a:prstGeom prst="chevron">
            <a:avLst/>
          </a:prstGeom>
          <a:solidFill>
            <a:srgbClr val="9AA9AD"/>
          </a:solidFill>
          <a:ln w="12700">
            <a:solidFill>
              <a:srgbClr val="9AA9AD"/>
            </a:solidFill>
            <a:prstDash val="solid"/>
          </a:ln>
        </p:spPr>
      </p:sp>
      <p:sp>
        <p:nvSpPr>
          <p:cNvPr id="10" name="pipeline step 2"/>
          <p:cNvSpPr/>
          <p:nvPr/>
        </p:nvSpPr>
        <p:spPr>
          <a:xfrm>
            <a:off x="2423160" y="1737360"/>
            <a:ext cx="1645920" cy="3566160"/>
          </a:xfrm>
          <a:prstGeom prst="roundRect">
            <a:avLst>
              <a:gd name="adj" fmla="val 6667"/>
            </a:avLst>
          </a:prstGeom>
          <a:solidFill>
            <a:srgbClr val="EEF6F5"/>
          </a:solidFill>
          <a:ln w="12700">
            <a:solidFill>
              <a:srgbClr val="EEF6F5"/>
            </a:solidFill>
            <a:prstDash val="solid"/>
          </a:ln>
        </p:spPr>
      </p:sp>
      <p:sp>
        <p:nvSpPr>
          <p:cNvPr id="11" name="pipeline icon 2 circle"/>
          <p:cNvSpPr/>
          <p:nvPr/>
        </p:nvSpPr>
        <p:spPr>
          <a:xfrm>
            <a:off x="2834640" y="2011680"/>
            <a:ext cx="822960" cy="822960"/>
          </a:xfrm>
          <a:prstGeom prst="ellipse">
            <a:avLst/>
          </a:prstGeom>
          <a:solidFill>
            <a:srgbClr val="13A89E"/>
          </a:solidFill>
          <a:ln w="12700">
            <a:solidFill>
              <a:srgbClr val="13A89E"/>
            </a:solidFill>
            <a:prstDash val="solid"/>
          </a:ln>
        </p:spPr>
      </p:sp>
      <p:pic>
        <p:nvPicPr>
          <p:cNvPr id="12" name="pipeline icon 2" descr="preencoded.png">    </p:cNvPr>
          <p:cNvPicPr>
            <a:picLocks noChangeAspect="1"/>
          </p:cNvPicPr>
          <p:nvPr/>
        </p:nvPicPr>
        <p:blipFill>
          <a:blip r:embed="rId2"/>
          <a:stretch>
            <a:fillRect/>
          </a:stretch>
        </p:blipFill>
        <p:spPr>
          <a:xfrm>
            <a:off x="3040380" y="2217420"/>
            <a:ext cx="411480" cy="411480"/>
          </a:xfrm>
          <a:prstGeom prst="rect">
            <a:avLst/>
          </a:prstGeom>
        </p:spPr>
      </p:pic>
      <p:sp>
        <p:nvSpPr>
          <p:cNvPr id="13" name="Text 9"/>
          <p:cNvSpPr txBox="1"/>
          <p:nvPr/>
        </p:nvSpPr>
        <p:spPr>
          <a:xfrm>
            <a:off x="2560320" y="3017520"/>
            <a:ext cx="1371600" cy="320040"/>
          </a:xfrm>
          <a:prstGeom prst="rect">
            <a:avLst/>
          </a:prstGeom>
          <a:noFill/>
          <a:ln/>
        </p:spPr>
        <p:txBody>
          <a:bodyPr wrap="square" lIns="0" tIns="0" rIns="0" bIns="0" rtlCol="0" anchor="ctr"/>
          <a:lstStyle/>
          <a:p>
            <a:pPr algn="ctr" indent="0" marL="0">
              <a:buNone/>
            </a:pPr>
            <a:r>
              <a:rPr lang="en-US" sz="1300" b="1" dirty="0">
                <a:solidFill>
                  <a:srgbClr val="5B6B70"/>
                </a:solidFill>
              </a:rPr>
              <a:t>2</a:t>
            </a:r>
            <a:endParaRPr lang="en-US" sz="1300" dirty="0"/>
          </a:p>
        </p:txBody>
      </p:sp>
      <p:sp>
        <p:nvSpPr>
          <p:cNvPr id="14" name="Text 10"/>
          <p:cNvSpPr txBox="1"/>
          <p:nvPr/>
        </p:nvSpPr>
        <p:spPr>
          <a:xfrm>
            <a:off x="2514600" y="3337560"/>
            <a:ext cx="1463040" cy="411480"/>
          </a:xfrm>
          <a:prstGeom prst="rect">
            <a:avLst/>
          </a:prstGeom>
          <a:noFill/>
          <a:ln/>
        </p:spPr>
        <p:txBody>
          <a:bodyPr wrap="square" lIns="0" tIns="0" rIns="0" bIns="0" rtlCol="0" anchor="ctr"/>
          <a:lstStyle/>
          <a:p>
            <a:pPr algn="ctr" indent="0" marL="0">
              <a:buNone/>
            </a:pPr>
            <a:r>
              <a:rPr lang="en-US" sz="1600" b="1" dirty="0">
                <a:solidFill>
                  <a:srgbClr val="0E3B3D"/>
                </a:solidFill>
              </a:rPr>
              <a:t>Validation</a:t>
            </a:r>
            <a:endParaRPr lang="en-US" sz="1600" dirty="0"/>
          </a:p>
        </p:txBody>
      </p:sp>
      <p:sp>
        <p:nvSpPr>
          <p:cNvPr id="15" name="Text 11"/>
          <p:cNvSpPr txBox="1"/>
          <p:nvPr/>
        </p:nvSpPr>
        <p:spPr>
          <a:xfrm>
            <a:off x="2560320" y="3840480"/>
            <a:ext cx="1371600" cy="1325880"/>
          </a:xfrm>
          <a:prstGeom prst="rect">
            <a:avLst/>
          </a:prstGeom>
          <a:noFill/>
          <a:ln/>
        </p:spPr>
        <p:txBody>
          <a:bodyPr wrap="square" lIns="0" tIns="0" rIns="0" bIns="0" rtlCol="0" anchor="t"/>
          <a:lstStyle/>
          <a:p>
            <a:pPr algn="ctr" indent="0" marL="0">
              <a:buNone/>
            </a:pPr>
            <a:r>
              <a:rPr lang="en-US" sz="1200" dirty="0">
                <a:solidFill>
                  <a:srgbClr val="1B2428"/>
                </a:solidFill>
              </a:rPr>
              <a:t>Missing values, duplicates, labels checked</a:t>
            </a:r>
            <a:endParaRPr lang="en-US" sz="1200" dirty="0"/>
          </a:p>
        </p:txBody>
      </p:sp>
      <p:sp>
        <p:nvSpPr>
          <p:cNvPr id="16" name="arrow 2"/>
          <p:cNvSpPr/>
          <p:nvPr/>
        </p:nvSpPr>
        <p:spPr>
          <a:xfrm>
            <a:off x="4114800" y="3383280"/>
            <a:ext cx="146304" cy="320040"/>
          </a:xfrm>
          <a:prstGeom prst="chevron">
            <a:avLst/>
          </a:prstGeom>
          <a:solidFill>
            <a:srgbClr val="9AA9AD"/>
          </a:solidFill>
          <a:ln w="12700">
            <a:solidFill>
              <a:srgbClr val="9AA9AD"/>
            </a:solidFill>
            <a:prstDash val="solid"/>
          </a:ln>
        </p:spPr>
      </p:sp>
      <p:sp>
        <p:nvSpPr>
          <p:cNvPr id="17" name="pipeline step 3"/>
          <p:cNvSpPr/>
          <p:nvPr/>
        </p:nvSpPr>
        <p:spPr>
          <a:xfrm>
            <a:off x="4297680" y="1737360"/>
            <a:ext cx="1645920" cy="3566160"/>
          </a:xfrm>
          <a:prstGeom prst="roundRect">
            <a:avLst>
              <a:gd name="adj" fmla="val 6667"/>
            </a:avLst>
          </a:prstGeom>
          <a:solidFill>
            <a:srgbClr val="EEF6F5"/>
          </a:solidFill>
          <a:ln w="12700">
            <a:solidFill>
              <a:srgbClr val="EEF6F5"/>
            </a:solidFill>
            <a:prstDash val="solid"/>
          </a:ln>
        </p:spPr>
      </p:sp>
      <p:sp>
        <p:nvSpPr>
          <p:cNvPr id="18" name="pipeline icon 3 circle"/>
          <p:cNvSpPr/>
          <p:nvPr/>
        </p:nvSpPr>
        <p:spPr>
          <a:xfrm>
            <a:off x="4709160" y="2011680"/>
            <a:ext cx="822960" cy="822960"/>
          </a:xfrm>
          <a:prstGeom prst="ellipse">
            <a:avLst/>
          </a:prstGeom>
          <a:solidFill>
            <a:srgbClr val="13A89E"/>
          </a:solidFill>
          <a:ln w="12700">
            <a:solidFill>
              <a:srgbClr val="13A89E"/>
            </a:solidFill>
            <a:prstDash val="solid"/>
          </a:ln>
        </p:spPr>
      </p:sp>
      <p:pic>
        <p:nvPicPr>
          <p:cNvPr id="19" name="pipeline icon 3" descr="preencoded.png">    </p:cNvPr>
          <p:cNvPicPr>
            <a:picLocks noChangeAspect="1"/>
          </p:cNvPicPr>
          <p:nvPr/>
        </p:nvPicPr>
        <p:blipFill>
          <a:blip r:embed="rId3"/>
          <a:stretch>
            <a:fillRect/>
          </a:stretch>
        </p:blipFill>
        <p:spPr>
          <a:xfrm>
            <a:off x="4914900" y="2217420"/>
            <a:ext cx="411480" cy="411480"/>
          </a:xfrm>
          <a:prstGeom prst="rect">
            <a:avLst/>
          </a:prstGeom>
        </p:spPr>
      </p:pic>
      <p:sp>
        <p:nvSpPr>
          <p:cNvPr id="20" name="Text 15"/>
          <p:cNvSpPr txBox="1"/>
          <p:nvPr/>
        </p:nvSpPr>
        <p:spPr>
          <a:xfrm>
            <a:off x="4434840" y="3017520"/>
            <a:ext cx="1371600" cy="320040"/>
          </a:xfrm>
          <a:prstGeom prst="rect">
            <a:avLst/>
          </a:prstGeom>
          <a:noFill/>
          <a:ln/>
        </p:spPr>
        <p:txBody>
          <a:bodyPr wrap="square" lIns="0" tIns="0" rIns="0" bIns="0" rtlCol="0" anchor="ctr"/>
          <a:lstStyle/>
          <a:p>
            <a:pPr algn="ctr" indent="0" marL="0">
              <a:buNone/>
            </a:pPr>
            <a:r>
              <a:rPr lang="en-US" sz="1300" b="1" dirty="0">
                <a:solidFill>
                  <a:srgbClr val="5B6B70"/>
                </a:solidFill>
              </a:rPr>
              <a:t>3</a:t>
            </a:r>
            <a:endParaRPr lang="en-US" sz="1300" dirty="0"/>
          </a:p>
        </p:txBody>
      </p:sp>
      <p:sp>
        <p:nvSpPr>
          <p:cNvPr id="21" name="Text 16"/>
          <p:cNvSpPr txBox="1"/>
          <p:nvPr/>
        </p:nvSpPr>
        <p:spPr>
          <a:xfrm>
            <a:off x="4389120" y="3337560"/>
            <a:ext cx="1463040" cy="411480"/>
          </a:xfrm>
          <a:prstGeom prst="rect">
            <a:avLst/>
          </a:prstGeom>
          <a:noFill/>
          <a:ln/>
        </p:spPr>
        <p:txBody>
          <a:bodyPr wrap="square" lIns="0" tIns="0" rIns="0" bIns="0" rtlCol="0" anchor="ctr"/>
          <a:lstStyle/>
          <a:p>
            <a:pPr algn="ctr" indent="0" marL="0">
              <a:buNone/>
            </a:pPr>
            <a:r>
              <a:rPr lang="en-US" sz="1600" b="1" dirty="0">
                <a:solidFill>
                  <a:srgbClr val="0E3B3D"/>
                </a:solidFill>
              </a:rPr>
              <a:t>Preprocessing</a:t>
            </a:r>
            <a:endParaRPr lang="en-US" sz="1600" dirty="0"/>
          </a:p>
        </p:txBody>
      </p:sp>
      <p:sp>
        <p:nvSpPr>
          <p:cNvPr id="22" name="Text 17"/>
          <p:cNvSpPr txBox="1"/>
          <p:nvPr/>
        </p:nvSpPr>
        <p:spPr>
          <a:xfrm>
            <a:off x="4434840" y="3840480"/>
            <a:ext cx="1371600" cy="1325880"/>
          </a:xfrm>
          <a:prstGeom prst="rect">
            <a:avLst/>
          </a:prstGeom>
          <a:noFill/>
          <a:ln/>
        </p:spPr>
        <p:txBody>
          <a:bodyPr wrap="square" lIns="0" tIns="0" rIns="0" bIns="0" rtlCol="0" anchor="t"/>
          <a:lstStyle/>
          <a:p>
            <a:pPr algn="ctr" indent="0" marL="0">
              <a:buNone/>
            </a:pPr>
            <a:r>
              <a:rPr lang="en-US" sz="1200" dirty="0">
                <a:solidFill>
                  <a:srgbClr val="1B2428"/>
                </a:solidFill>
              </a:rPr>
              <a:t>Cleaning and an 80 / 20 train-test split</a:t>
            </a:r>
            <a:endParaRPr lang="en-US" sz="1200" dirty="0"/>
          </a:p>
        </p:txBody>
      </p:sp>
      <p:sp>
        <p:nvSpPr>
          <p:cNvPr id="23" name="arrow 3"/>
          <p:cNvSpPr/>
          <p:nvPr/>
        </p:nvSpPr>
        <p:spPr>
          <a:xfrm>
            <a:off x="5989320" y="3383280"/>
            <a:ext cx="146304" cy="320040"/>
          </a:xfrm>
          <a:prstGeom prst="chevron">
            <a:avLst/>
          </a:prstGeom>
          <a:solidFill>
            <a:srgbClr val="9AA9AD"/>
          </a:solidFill>
          <a:ln w="12700">
            <a:solidFill>
              <a:srgbClr val="9AA9AD"/>
            </a:solidFill>
            <a:prstDash val="solid"/>
          </a:ln>
        </p:spPr>
      </p:sp>
      <p:sp>
        <p:nvSpPr>
          <p:cNvPr id="24" name="pipeline step 4"/>
          <p:cNvSpPr/>
          <p:nvPr/>
        </p:nvSpPr>
        <p:spPr>
          <a:xfrm>
            <a:off x="6172200" y="1737360"/>
            <a:ext cx="1645920" cy="3566160"/>
          </a:xfrm>
          <a:prstGeom prst="roundRect">
            <a:avLst>
              <a:gd name="adj" fmla="val 6667"/>
            </a:avLst>
          </a:prstGeom>
          <a:solidFill>
            <a:srgbClr val="0E3B3D"/>
          </a:solidFill>
          <a:ln w="12700">
            <a:solidFill>
              <a:srgbClr val="0E3B3D"/>
            </a:solidFill>
            <a:prstDash val="solid"/>
          </a:ln>
        </p:spPr>
      </p:sp>
      <p:sp>
        <p:nvSpPr>
          <p:cNvPr id="25" name="pipeline icon 4 circle"/>
          <p:cNvSpPr/>
          <p:nvPr/>
        </p:nvSpPr>
        <p:spPr>
          <a:xfrm>
            <a:off x="6583680" y="2011680"/>
            <a:ext cx="822960" cy="822960"/>
          </a:xfrm>
          <a:prstGeom prst="ellipse">
            <a:avLst/>
          </a:prstGeom>
          <a:solidFill>
            <a:srgbClr val="5FD3C7"/>
          </a:solidFill>
          <a:ln w="12700">
            <a:solidFill>
              <a:srgbClr val="5FD3C7"/>
            </a:solidFill>
            <a:prstDash val="solid"/>
          </a:ln>
        </p:spPr>
      </p:sp>
      <p:pic>
        <p:nvPicPr>
          <p:cNvPr id="26" name="pipeline icon 4" descr="preencoded.png">    </p:cNvPr>
          <p:cNvPicPr>
            <a:picLocks noChangeAspect="1"/>
          </p:cNvPicPr>
          <p:nvPr/>
        </p:nvPicPr>
        <p:blipFill>
          <a:blip r:embed="rId4"/>
          <a:stretch>
            <a:fillRect/>
          </a:stretch>
        </p:blipFill>
        <p:spPr>
          <a:xfrm>
            <a:off x="6789420" y="2217420"/>
            <a:ext cx="411480" cy="411480"/>
          </a:xfrm>
          <a:prstGeom prst="rect">
            <a:avLst/>
          </a:prstGeom>
        </p:spPr>
      </p:pic>
      <p:sp>
        <p:nvSpPr>
          <p:cNvPr id="27" name="Text 21"/>
          <p:cNvSpPr txBox="1"/>
          <p:nvPr/>
        </p:nvSpPr>
        <p:spPr>
          <a:xfrm>
            <a:off x="6309360" y="3017520"/>
            <a:ext cx="1371600" cy="320040"/>
          </a:xfrm>
          <a:prstGeom prst="rect">
            <a:avLst/>
          </a:prstGeom>
          <a:noFill/>
          <a:ln/>
        </p:spPr>
        <p:txBody>
          <a:bodyPr wrap="square" lIns="0" tIns="0" rIns="0" bIns="0" rtlCol="0" anchor="ctr"/>
          <a:lstStyle/>
          <a:p>
            <a:pPr algn="ctr" indent="0" marL="0">
              <a:buNone/>
            </a:pPr>
            <a:r>
              <a:rPr lang="en-US" sz="1300" b="1" dirty="0">
                <a:solidFill>
                  <a:srgbClr val="9CC7C2"/>
                </a:solidFill>
              </a:rPr>
              <a:t>4</a:t>
            </a:r>
            <a:endParaRPr lang="en-US" sz="1300" dirty="0"/>
          </a:p>
        </p:txBody>
      </p:sp>
      <p:sp>
        <p:nvSpPr>
          <p:cNvPr id="28" name="Text 22"/>
          <p:cNvSpPr txBox="1"/>
          <p:nvPr/>
        </p:nvSpPr>
        <p:spPr>
          <a:xfrm>
            <a:off x="6263640" y="3337560"/>
            <a:ext cx="1463040" cy="411480"/>
          </a:xfrm>
          <a:prstGeom prst="rect">
            <a:avLst/>
          </a:prstGeom>
          <a:noFill/>
          <a:ln/>
        </p:spPr>
        <p:txBody>
          <a:bodyPr wrap="square" lIns="0" tIns="0" rIns="0" bIns="0" rtlCol="0" anchor="ctr"/>
          <a:lstStyle/>
          <a:p>
            <a:pPr algn="ctr" indent="0" marL="0">
              <a:buNone/>
            </a:pPr>
            <a:r>
              <a:rPr lang="en-US" sz="1600" b="1" dirty="0">
                <a:solidFill>
                  <a:srgbClr val="FFFFFF"/>
                </a:solidFill>
              </a:rPr>
              <a:t>Training</a:t>
            </a:r>
            <a:endParaRPr lang="en-US" sz="1600" dirty="0"/>
          </a:p>
        </p:txBody>
      </p:sp>
      <p:sp>
        <p:nvSpPr>
          <p:cNvPr id="29" name="Text 23"/>
          <p:cNvSpPr txBox="1"/>
          <p:nvPr/>
        </p:nvSpPr>
        <p:spPr>
          <a:xfrm>
            <a:off x="6309360" y="3840480"/>
            <a:ext cx="1371600" cy="1325880"/>
          </a:xfrm>
          <a:prstGeom prst="rect">
            <a:avLst/>
          </a:prstGeom>
          <a:noFill/>
          <a:ln/>
        </p:spPr>
        <p:txBody>
          <a:bodyPr wrap="square" lIns="0" tIns="0" rIns="0" bIns="0" rtlCol="0" anchor="t"/>
          <a:lstStyle/>
          <a:p>
            <a:pPr algn="ctr" indent="0" marL="0">
              <a:buNone/>
            </a:pPr>
            <a:r>
              <a:rPr lang="en-US" sz="1200" dirty="0">
                <a:solidFill>
                  <a:srgbClr val="D7ECEA"/>
                </a:solidFill>
              </a:rPr>
              <a:t>Deep neural network + 5 ML models, 5-fold CV</a:t>
            </a:r>
            <a:endParaRPr lang="en-US" sz="1200" dirty="0"/>
          </a:p>
        </p:txBody>
      </p:sp>
      <p:sp>
        <p:nvSpPr>
          <p:cNvPr id="30" name="arrow 4"/>
          <p:cNvSpPr/>
          <p:nvPr/>
        </p:nvSpPr>
        <p:spPr>
          <a:xfrm>
            <a:off x="7863840" y="3383280"/>
            <a:ext cx="146304" cy="320040"/>
          </a:xfrm>
          <a:prstGeom prst="chevron">
            <a:avLst/>
          </a:prstGeom>
          <a:solidFill>
            <a:srgbClr val="9AA9AD"/>
          </a:solidFill>
          <a:ln w="12700">
            <a:solidFill>
              <a:srgbClr val="9AA9AD"/>
            </a:solidFill>
            <a:prstDash val="solid"/>
          </a:ln>
        </p:spPr>
      </p:sp>
      <p:sp>
        <p:nvSpPr>
          <p:cNvPr id="31" name="pipeline step 5"/>
          <p:cNvSpPr/>
          <p:nvPr/>
        </p:nvSpPr>
        <p:spPr>
          <a:xfrm>
            <a:off x="8046720" y="1737360"/>
            <a:ext cx="1645920" cy="3566160"/>
          </a:xfrm>
          <a:prstGeom prst="roundRect">
            <a:avLst>
              <a:gd name="adj" fmla="val 6667"/>
            </a:avLst>
          </a:prstGeom>
          <a:solidFill>
            <a:srgbClr val="EEF6F5"/>
          </a:solidFill>
          <a:ln w="12700">
            <a:solidFill>
              <a:srgbClr val="EEF6F5"/>
            </a:solidFill>
            <a:prstDash val="solid"/>
          </a:ln>
        </p:spPr>
      </p:sp>
      <p:sp>
        <p:nvSpPr>
          <p:cNvPr id="32" name="pipeline icon 5 circle"/>
          <p:cNvSpPr/>
          <p:nvPr/>
        </p:nvSpPr>
        <p:spPr>
          <a:xfrm>
            <a:off x="8458200" y="2011680"/>
            <a:ext cx="822960" cy="822960"/>
          </a:xfrm>
          <a:prstGeom prst="ellipse">
            <a:avLst/>
          </a:prstGeom>
          <a:solidFill>
            <a:srgbClr val="13A89E"/>
          </a:solidFill>
          <a:ln w="12700">
            <a:solidFill>
              <a:srgbClr val="13A89E"/>
            </a:solidFill>
            <a:prstDash val="solid"/>
          </a:ln>
        </p:spPr>
      </p:sp>
      <p:pic>
        <p:nvPicPr>
          <p:cNvPr id="33" name="pipeline icon 5" descr="preencoded.png">    </p:cNvPr>
          <p:cNvPicPr>
            <a:picLocks noChangeAspect="1"/>
          </p:cNvPicPr>
          <p:nvPr/>
        </p:nvPicPr>
        <p:blipFill>
          <a:blip r:embed="rId5"/>
          <a:stretch>
            <a:fillRect/>
          </a:stretch>
        </p:blipFill>
        <p:spPr>
          <a:xfrm>
            <a:off x="8663940" y="2217420"/>
            <a:ext cx="411480" cy="411480"/>
          </a:xfrm>
          <a:prstGeom prst="rect">
            <a:avLst/>
          </a:prstGeom>
        </p:spPr>
      </p:pic>
      <p:sp>
        <p:nvSpPr>
          <p:cNvPr id="34" name="Text 27"/>
          <p:cNvSpPr txBox="1"/>
          <p:nvPr/>
        </p:nvSpPr>
        <p:spPr>
          <a:xfrm>
            <a:off x="8183880" y="3017520"/>
            <a:ext cx="1371600" cy="320040"/>
          </a:xfrm>
          <a:prstGeom prst="rect">
            <a:avLst/>
          </a:prstGeom>
          <a:noFill/>
          <a:ln/>
        </p:spPr>
        <p:txBody>
          <a:bodyPr wrap="square" lIns="0" tIns="0" rIns="0" bIns="0" rtlCol="0" anchor="ctr"/>
          <a:lstStyle/>
          <a:p>
            <a:pPr algn="ctr" indent="0" marL="0">
              <a:buNone/>
            </a:pPr>
            <a:r>
              <a:rPr lang="en-US" sz="1300" b="1" dirty="0">
                <a:solidFill>
                  <a:srgbClr val="5B6B70"/>
                </a:solidFill>
              </a:rPr>
              <a:t>5</a:t>
            </a:r>
            <a:endParaRPr lang="en-US" sz="1300" dirty="0"/>
          </a:p>
        </p:txBody>
      </p:sp>
      <p:sp>
        <p:nvSpPr>
          <p:cNvPr id="35" name="Text 28"/>
          <p:cNvSpPr txBox="1"/>
          <p:nvPr/>
        </p:nvSpPr>
        <p:spPr>
          <a:xfrm>
            <a:off x="8138160" y="3337560"/>
            <a:ext cx="1463040" cy="411480"/>
          </a:xfrm>
          <a:prstGeom prst="rect">
            <a:avLst/>
          </a:prstGeom>
          <a:noFill/>
          <a:ln/>
        </p:spPr>
        <p:txBody>
          <a:bodyPr wrap="square" lIns="0" tIns="0" rIns="0" bIns="0" rtlCol="0" anchor="ctr"/>
          <a:lstStyle/>
          <a:p>
            <a:pPr algn="ctr" indent="0" marL="0">
              <a:buNone/>
            </a:pPr>
            <a:r>
              <a:rPr lang="en-US" sz="1600" b="1" dirty="0">
                <a:solidFill>
                  <a:srgbClr val="0E3B3D"/>
                </a:solidFill>
              </a:rPr>
              <a:t>Evaluation</a:t>
            </a:r>
            <a:endParaRPr lang="en-US" sz="1600" dirty="0"/>
          </a:p>
        </p:txBody>
      </p:sp>
      <p:sp>
        <p:nvSpPr>
          <p:cNvPr id="36" name="Text 29"/>
          <p:cNvSpPr txBox="1"/>
          <p:nvPr/>
        </p:nvSpPr>
        <p:spPr>
          <a:xfrm>
            <a:off x="8183880" y="3840480"/>
            <a:ext cx="1371600" cy="1325880"/>
          </a:xfrm>
          <a:prstGeom prst="rect">
            <a:avLst/>
          </a:prstGeom>
          <a:noFill/>
          <a:ln/>
        </p:spPr>
        <p:txBody>
          <a:bodyPr wrap="square" lIns="0" tIns="0" rIns="0" bIns="0" rtlCol="0" anchor="t"/>
          <a:lstStyle/>
          <a:p>
            <a:pPr algn="ctr" indent="0" marL="0">
              <a:buNone/>
            </a:pPr>
            <a:r>
              <a:rPr lang="en-US" sz="1200" dirty="0">
                <a:solidFill>
                  <a:srgbClr val="1B2428"/>
                </a:solidFill>
              </a:rPr>
              <a:t>Scores on 200 unseen patients</a:t>
            </a:r>
            <a:endParaRPr lang="en-US" sz="1200" dirty="0"/>
          </a:p>
        </p:txBody>
      </p:sp>
      <p:sp>
        <p:nvSpPr>
          <p:cNvPr id="37" name="arrow 5"/>
          <p:cNvSpPr/>
          <p:nvPr/>
        </p:nvSpPr>
        <p:spPr>
          <a:xfrm>
            <a:off x="9738360" y="3383280"/>
            <a:ext cx="146304" cy="320040"/>
          </a:xfrm>
          <a:prstGeom prst="chevron">
            <a:avLst/>
          </a:prstGeom>
          <a:solidFill>
            <a:srgbClr val="9AA9AD"/>
          </a:solidFill>
          <a:ln w="12700">
            <a:solidFill>
              <a:srgbClr val="9AA9AD"/>
            </a:solidFill>
            <a:prstDash val="solid"/>
          </a:ln>
        </p:spPr>
      </p:sp>
      <p:sp>
        <p:nvSpPr>
          <p:cNvPr id="38" name="pipeline step 6"/>
          <p:cNvSpPr/>
          <p:nvPr/>
        </p:nvSpPr>
        <p:spPr>
          <a:xfrm>
            <a:off x="9921240" y="1737360"/>
            <a:ext cx="1645920" cy="3566160"/>
          </a:xfrm>
          <a:prstGeom prst="roundRect">
            <a:avLst>
              <a:gd name="adj" fmla="val 6667"/>
            </a:avLst>
          </a:prstGeom>
          <a:solidFill>
            <a:srgbClr val="EEF6F5"/>
          </a:solidFill>
          <a:ln w="12700">
            <a:solidFill>
              <a:srgbClr val="EEF6F5"/>
            </a:solidFill>
            <a:prstDash val="solid"/>
          </a:ln>
        </p:spPr>
      </p:sp>
      <p:sp>
        <p:nvSpPr>
          <p:cNvPr id="39" name="pipeline icon 6 circle"/>
          <p:cNvSpPr/>
          <p:nvPr/>
        </p:nvSpPr>
        <p:spPr>
          <a:xfrm>
            <a:off x="10332720" y="2011680"/>
            <a:ext cx="822960" cy="822960"/>
          </a:xfrm>
          <a:prstGeom prst="ellipse">
            <a:avLst/>
          </a:prstGeom>
          <a:solidFill>
            <a:srgbClr val="13A89E"/>
          </a:solidFill>
          <a:ln w="12700">
            <a:solidFill>
              <a:srgbClr val="13A89E"/>
            </a:solidFill>
            <a:prstDash val="solid"/>
          </a:ln>
        </p:spPr>
      </p:sp>
      <p:pic>
        <p:nvPicPr>
          <p:cNvPr id="40" name="pipeline icon 6" descr="preencoded.png">    </p:cNvPr>
          <p:cNvPicPr>
            <a:picLocks noChangeAspect="1"/>
          </p:cNvPicPr>
          <p:nvPr/>
        </p:nvPicPr>
        <p:blipFill>
          <a:blip r:embed="rId6"/>
          <a:stretch>
            <a:fillRect/>
          </a:stretch>
        </p:blipFill>
        <p:spPr>
          <a:xfrm>
            <a:off x="10538460" y="2217420"/>
            <a:ext cx="411480" cy="411480"/>
          </a:xfrm>
          <a:prstGeom prst="rect">
            <a:avLst/>
          </a:prstGeom>
        </p:spPr>
      </p:pic>
      <p:sp>
        <p:nvSpPr>
          <p:cNvPr id="41" name="Text 33"/>
          <p:cNvSpPr txBox="1"/>
          <p:nvPr/>
        </p:nvSpPr>
        <p:spPr>
          <a:xfrm>
            <a:off x="10058400" y="3017520"/>
            <a:ext cx="1371600" cy="320040"/>
          </a:xfrm>
          <a:prstGeom prst="rect">
            <a:avLst/>
          </a:prstGeom>
          <a:noFill/>
          <a:ln/>
        </p:spPr>
        <p:txBody>
          <a:bodyPr wrap="square" lIns="0" tIns="0" rIns="0" bIns="0" rtlCol="0" anchor="ctr"/>
          <a:lstStyle/>
          <a:p>
            <a:pPr algn="ctr" indent="0" marL="0">
              <a:buNone/>
            </a:pPr>
            <a:r>
              <a:rPr lang="en-US" sz="1300" b="1" dirty="0">
                <a:solidFill>
                  <a:srgbClr val="5B6B70"/>
                </a:solidFill>
              </a:rPr>
              <a:t>6</a:t>
            </a:r>
            <a:endParaRPr lang="en-US" sz="1300" dirty="0"/>
          </a:p>
        </p:txBody>
      </p:sp>
      <p:sp>
        <p:nvSpPr>
          <p:cNvPr id="42" name="Text 34"/>
          <p:cNvSpPr txBox="1"/>
          <p:nvPr/>
        </p:nvSpPr>
        <p:spPr>
          <a:xfrm>
            <a:off x="10012680" y="3337560"/>
            <a:ext cx="1463040" cy="411480"/>
          </a:xfrm>
          <a:prstGeom prst="rect">
            <a:avLst/>
          </a:prstGeom>
          <a:noFill/>
          <a:ln/>
        </p:spPr>
        <p:txBody>
          <a:bodyPr wrap="square" lIns="0" tIns="0" rIns="0" bIns="0" rtlCol="0" anchor="ctr"/>
          <a:lstStyle/>
          <a:p>
            <a:pPr algn="ctr" indent="0" marL="0">
              <a:buNone/>
            </a:pPr>
            <a:r>
              <a:rPr lang="en-US" sz="1600" b="1" dirty="0">
                <a:solidFill>
                  <a:srgbClr val="0E3B3D"/>
                </a:solidFill>
              </a:rPr>
              <a:t>Web app</a:t>
            </a:r>
            <a:endParaRPr lang="en-US" sz="1600" dirty="0"/>
          </a:p>
        </p:txBody>
      </p:sp>
      <p:sp>
        <p:nvSpPr>
          <p:cNvPr id="43" name="Text 35"/>
          <p:cNvSpPr txBox="1"/>
          <p:nvPr/>
        </p:nvSpPr>
        <p:spPr>
          <a:xfrm>
            <a:off x="10058400" y="3840480"/>
            <a:ext cx="1371600" cy="1325880"/>
          </a:xfrm>
          <a:prstGeom prst="rect">
            <a:avLst/>
          </a:prstGeom>
          <a:noFill/>
          <a:ln/>
        </p:spPr>
        <p:txBody>
          <a:bodyPr wrap="square" lIns="0" tIns="0" rIns="0" bIns="0" rtlCol="0" anchor="t"/>
          <a:lstStyle/>
          <a:p>
            <a:pPr algn="ctr" indent="0" marL="0">
              <a:buNone/>
            </a:pPr>
            <a:r>
              <a:rPr lang="en-US" sz="1200" dirty="0">
                <a:solidFill>
                  <a:srgbClr val="1B2428"/>
                </a:solidFill>
              </a:rPr>
              <a:t>FastAPI backend + HTML/CSS/JS frontend</a:t>
            </a:r>
            <a:endParaRPr lang="en-US" sz="1200" dirty="0"/>
          </a:p>
        </p:txBody>
      </p:sp>
      <p:sp>
        <p:nvSpPr>
          <p:cNvPr id="44" name="Text 36"/>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400" dirty="0">
                <a:solidFill>
                  <a:srgbClr val="5B6B70"/>
                </a:solidFill>
              </a:rPr>
              <a:t>Built in Python with pandas, scikit-learn, XGBoost and PyTorch.</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Deep learning model (PyTorch)</a:t>
            </a:r>
            <a:endParaRPr lang="en-US" sz="3200" dirty="0"/>
          </a:p>
        </p:txBody>
      </p:sp>
      <p:sp>
        <p:nvSpPr>
          <p:cNvPr id="3" name="layer Input"/>
          <p:cNvSpPr/>
          <p:nvPr/>
        </p:nvSpPr>
        <p:spPr>
          <a:xfrm>
            <a:off x="548640" y="2286000"/>
            <a:ext cx="1143000" cy="2377440"/>
          </a:xfrm>
          <a:prstGeom prst="roundRect">
            <a:avLst>
              <a:gd name="adj" fmla="val 12000"/>
            </a:avLst>
          </a:prstGeom>
          <a:solidFill>
            <a:srgbClr val="9AA9AD"/>
          </a:solidFill>
          <a:ln w="12700">
            <a:solidFill>
              <a:srgbClr val="9AA9AD"/>
            </a:solidFill>
            <a:prstDash val="solid"/>
          </a:ln>
        </p:spPr>
      </p:sp>
      <p:sp>
        <p:nvSpPr>
          <p:cNvPr id="4" name="Text 2"/>
          <p:cNvSpPr txBox="1"/>
          <p:nvPr/>
        </p:nvSpPr>
        <p:spPr>
          <a:xfrm>
            <a:off x="548640" y="2286000"/>
            <a:ext cx="1143000" cy="2377440"/>
          </a:xfrm>
          <a:prstGeom prst="rect">
            <a:avLst/>
          </a:prstGeom>
          <a:noFill/>
          <a:ln/>
        </p:spPr>
        <p:txBody>
          <a:bodyPr wrap="square" lIns="0" tIns="0" rIns="0" bIns="0" rtlCol="0" anchor="ctr"/>
          <a:lstStyle/>
          <a:p>
            <a:pPr algn="ctr" indent="0" marL="0">
              <a:buNone/>
            </a:pPr>
            <a:r>
              <a:rPr lang="en-US" sz="2400" b="1" dirty="0">
                <a:solidFill>
                  <a:srgbClr val="FFFFFF"/>
                </a:solidFill>
              </a:rPr>
              <a:t>12</a:t>
            </a:r>
            <a:endParaRPr lang="en-US" sz="2400" dirty="0"/>
          </a:p>
        </p:txBody>
      </p:sp>
      <p:sp>
        <p:nvSpPr>
          <p:cNvPr id="5" name="Text 3"/>
          <p:cNvSpPr txBox="1"/>
          <p:nvPr/>
        </p:nvSpPr>
        <p:spPr>
          <a:xfrm>
            <a:off x="411480" y="5577840"/>
            <a:ext cx="1417320" cy="320040"/>
          </a:xfrm>
          <a:prstGeom prst="rect">
            <a:avLst/>
          </a:prstGeom>
          <a:noFill/>
          <a:ln/>
        </p:spPr>
        <p:txBody>
          <a:bodyPr wrap="square" lIns="0" tIns="0" rIns="0" bIns="0" rtlCol="0" anchor="ctr"/>
          <a:lstStyle/>
          <a:p>
            <a:pPr algn="ctr" indent="0" marL="0">
              <a:buNone/>
            </a:pPr>
            <a:r>
              <a:rPr lang="en-US" sz="1400" b="1" dirty="0">
                <a:solidFill>
                  <a:srgbClr val="0E3B3D"/>
                </a:solidFill>
              </a:rPr>
              <a:t>Input</a:t>
            </a:r>
            <a:endParaRPr lang="en-US" sz="1400" dirty="0"/>
          </a:p>
        </p:txBody>
      </p:sp>
      <p:sp>
        <p:nvSpPr>
          <p:cNvPr id="6" name="Text 4"/>
          <p:cNvSpPr txBox="1"/>
          <p:nvPr/>
        </p:nvSpPr>
        <p:spPr>
          <a:xfrm>
            <a:off x="411480" y="5897880"/>
            <a:ext cx="1417320" cy="411480"/>
          </a:xfrm>
          <a:prstGeom prst="rect">
            <a:avLst/>
          </a:prstGeom>
          <a:noFill/>
          <a:ln/>
        </p:spPr>
        <p:txBody>
          <a:bodyPr wrap="square" lIns="0" tIns="0" rIns="0" bIns="0" rtlCol="0" anchor="t"/>
          <a:lstStyle/>
          <a:p>
            <a:pPr algn="ctr" indent="0" marL="0">
              <a:buNone/>
            </a:pPr>
            <a:r>
              <a:rPr lang="en-US" sz="1000" dirty="0">
                <a:solidFill>
                  <a:srgbClr val="5B6B70"/>
                </a:solidFill>
              </a:rPr>
              <a:t>12 features</a:t>
            </a:r>
            <a:endParaRPr lang="en-US" sz="1000" dirty="0"/>
          </a:p>
        </p:txBody>
      </p:sp>
      <p:sp>
        <p:nvSpPr>
          <p:cNvPr id="7" name="layer arrow 1"/>
          <p:cNvSpPr/>
          <p:nvPr/>
        </p:nvSpPr>
        <p:spPr>
          <a:xfrm>
            <a:off x="1709928" y="3474720"/>
            <a:ext cx="301752" cy="0"/>
          </a:xfrm>
          <a:prstGeom prst="line">
            <a:avLst/>
          </a:prstGeom>
          <a:noFill/>
          <a:ln w="25400">
            <a:solidFill>
              <a:srgbClr val="9AA9AD"/>
            </a:solidFill>
            <a:prstDash val="solid"/>
            <a:tailEnd type="triangle"/>
          </a:ln>
        </p:spPr>
      </p:sp>
      <p:sp>
        <p:nvSpPr>
          <p:cNvPr id="8" name="layer Dense 128"/>
          <p:cNvSpPr/>
          <p:nvPr/>
        </p:nvSpPr>
        <p:spPr>
          <a:xfrm>
            <a:off x="2029968" y="1463040"/>
            <a:ext cx="1143000" cy="4023360"/>
          </a:xfrm>
          <a:prstGeom prst="roundRect">
            <a:avLst>
              <a:gd name="adj" fmla="val 12000"/>
            </a:avLst>
          </a:prstGeom>
          <a:solidFill>
            <a:srgbClr val="13A89E"/>
          </a:solidFill>
          <a:ln w="12700">
            <a:solidFill>
              <a:srgbClr val="13A89E"/>
            </a:solidFill>
            <a:prstDash val="solid"/>
          </a:ln>
        </p:spPr>
      </p:sp>
      <p:sp>
        <p:nvSpPr>
          <p:cNvPr id="9" name="Text 7"/>
          <p:cNvSpPr txBox="1"/>
          <p:nvPr/>
        </p:nvSpPr>
        <p:spPr>
          <a:xfrm>
            <a:off x="2029968" y="1463040"/>
            <a:ext cx="1143000" cy="4023360"/>
          </a:xfrm>
          <a:prstGeom prst="rect">
            <a:avLst/>
          </a:prstGeom>
          <a:noFill/>
          <a:ln/>
        </p:spPr>
        <p:txBody>
          <a:bodyPr wrap="square" lIns="0" tIns="0" rIns="0" bIns="0" rtlCol="0" anchor="ctr"/>
          <a:lstStyle/>
          <a:p>
            <a:pPr algn="ctr" indent="0" marL="0">
              <a:buNone/>
            </a:pPr>
            <a:r>
              <a:rPr lang="en-US" sz="2400" b="1" dirty="0">
                <a:solidFill>
                  <a:srgbClr val="FFFFFF"/>
                </a:solidFill>
              </a:rPr>
              <a:t>128</a:t>
            </a:r>
            <a:endParaRPr lang="en-US" sz="2400" dirty="0"/>
          </a:p>
        </p:txBody>
      </p:sp>
      <p:sp>
        <p:nvSpPr>
          <p:cNvPr id="10" name="Text 8"/>
          <p:cNvSpPr txBox="1"/>
          <p:nvPr/>
        </p:nvSpPr>
        <p:spPr>
          <a:xfrm>
            <a:off x="1892808" y="5577840"/>
            <a:ext cx="1417320" cy="320040"/>
          </a:xfrm>
          <a:prstGeom prst="rect">
            <a:avLst/>
          </a:prstGeom>
          <a:noFill/>
          <a:ln/>
        </p:spPr>
        <p:txBody>
          <a:bodyPr wrap="square" lIns="0" tIns="0" rIns="0" bIns="0" rtlCol="0" anchor="ctr"/>
          <a:lstStyle/>
          <a:p>
            <a:pPr algn="ctr" indent="0" marL="0">
              <a:buNone/>
            </a:pPr>
            <a:r>
              <a:rPr lang="en-US" sz="1400" b="1" dirty="0">
                <a:solidFill>
                  <a:srgbClr val="0E3B3D"/>
                </a:solidFill>
              </a:rPr>
              <a:t>Dense 128</a:t>
            </a:r>
            <a:endParaRPr lang="en-US" sz="1400" dirty="0"/>
          </a:p>
        </p:txBody>
      </p:sp>
      <p:sp>
        <p:nvSpPr>
          <p:cNvPr id="11" name="Text 9"/>
          <p:cNvSpPr txBox="1"/>
          <p:nvPr/>
        </p:nvSpPr>
        <p:spPr>
          <a:xfrm>
            <a:off x="1892808" y="5897880"/>
            <a:ext cx="1417320" cy="411480"/>
          </a:xfrm>
          <a:prstGeom prst="rect">
            <a:avLst/>
          </a:prstGeom>
          <a:noFill/>
          <a:ln/>
        </p:spPr>
        <p:txBody>
          <a:bodyPr wrap="square" lIns="0" tIns="0" rIns="0" bIns="0" rtlCol="0" anchor="t"/>
          <a:lstStyle/>
          <a:p>
            <a:pPr algn="ctr" indent="0" marL="0">
              <a:buNone/>
            </a:pPr>
            <a:r>
              <a:rPr lang="en-US" sz="1000" dirty="0">
                <a:solidFill>
                  <a:srgbClr val="5B6B70"/>
                </a:solidFill>
              </a:rPr>
              <a:t>BatchNorm · ReLU · Dropout</a:t>
            </a:r>
            <a:endParaRPr lang="en-US" sz="1000" dirty="0"/>
          </a:p>
        </p:txBody>
      </p:sp>
      <p:sp>
        <p:nvSpPr>
          <p:cNvPr id="12" name="layer arrow 2"/>
          <p:cNvSpPr/>
          <p:nvPr/>
        </p:nvSpPr>
        <p:spPr>
          <a:xfrm>
            <a:off x="3191256" y="3474720"/>
            <a:ext cx="301752" cy="0"/>
          </a:xfrm>
          <a:prstGeom prst="line">
            <a:avLst/>
          </a:prstGeom>
          <a:noFill/>
          <a:ln w="25400">
            <a:solidFill>
              <a:srgbClr val="9AA9AD"/>
            </a:solidFill>
            <a:prstDash val="solid"/>
            <a:tailEnd type="triangle"/>
          </a:ln>
        </p:spPr>
      </p:sp>
      <p:sp>
        <p:nvSpPr>
          <p:cNvPr id="13" name="layer Dense 64"/>
          <p:cNvSpPr/>
          <p:nvPr/>
        </p:nvSpPr>
        <p:spPr>
          <a:xfrm>
            <a:off x="3511296" y="1920240"/>
            <a:ext cx="1143000" cy="3108960"/>
          </a:xfrm>
          <a:prstGeom prst="roundRect">
            <a:avLst>
              <a:gd name="adj" fmla="val 12000"/>
            </a:avLst>
          </a:prstGeom>
          <a:solidFill>
            <a:srgbClr val="13A89E"/>
          </a:solidFill>
          <a:ln w="12700">
            <a:solidFill>
              <a:srgbClr val="13A89E"/>
            </a:solidFill>
            <a:prstDash val="solid"/>
          </a:ln>
        </p:spPr>
      </p:sp>
      <p:sp>
        <p:nvSpPr>
          <p:cNvPr id="14" name="Text 12"/>
          <p:cNvSpPr txBox="1"/>
          <p:nvPr/>
        </p:nvSpPr>
        <p:spPr>
          <a:xfrm>
            <a:off x="3511296" y="1920240"/>
            <a:ext cx="1143000" cy="3108960"/>
          </a:xfrm>
          <a:prstGeom prst="rect">
            <a:avLst/>
          </a:prstGeom>
          <a:noFill/>
          <a:ln/>
        </p:spPr>
        <p:txBody>
          <a:bodyPr wrap="square" lIns="0" tIns="0" rIns="0" bIns="0" rtlCol="0" anchor="ctr"/>
          <a:lstStyle/>
          <a:p>
            <a:pPr algn="ctr" indent="0" marL="0">
              <a:buNone/>
            </a:pPr>
            <a:r>
              <a:rPr lang="en-US" sz="2400" b="1" dirty="0">
                <a:solidFill>
                  <a:srgbClr val="FFFFFF"/>
                </a:solidFill>
              </a:rPr>
              <a:t>64</a:t>
            </a:r>
            <a:endParaRPr lang="en-US" sz="2400" dirty="0"/>
          </a:p>
        </p:txBody>
      </p:sp>
      <p:sp>
        <p:nvSpPr>
          <p:cNvPr id="15" name="Text 13"/>
          <p:cNvSpPr txBox="1"/>
          <p:nvPr/>
        </p:nvSpPr>
        <p:spPr>
          <a:xfrm>
            <a:off x="3374136" y="5577840"/>
            <a:ext cx="1417320" cy="320040"/>
          </a:xfrm>
          <a:prstGeom prst="rect">
            <a:avLst/>
          </a:prstGeom>
          <a:noFill/>
          <a:ln/>
        </p:spPr>
        <p:txBody>
          <a:bodyPr wrap="square" lIns="0" tIns="0" rIns="0" bIns="0" rtlCol="0" anchor="ctr"/>
          <a:lstStyle/>
          <a:p>
            <a:pPr algn="ctr" indent="0" marL="0">
              <a:buNone/>
            </a:pPr>
            <a:r>
              <a:rPr lang="en-US" sz="1400" b="1" dirty="0">
                <a:solidFill>
                  <a:srgbClr val="0E3B3D"/>
                </a:solidFill>
              </a:rPr>
              <a:t>Dense 64</a:t>
            </a:r>
            <a:endParaRPr lang="en-US" sz="1400" dirty="0"/>
          </a:p>
        </p:txBody>
      </p:sp>
      <p:sp>
        <p:nvSpPr>
          <p:cNvPr id="16" name="Text 14"/>
          <p:cNvSpPr txBox="1"/>
          <p:nvPr/>
        </p:nvSpPr>
        <p:spPr>
          <a:xfrm>
            <a:off x="3374136" y="5897880"/>
            <a:ext cx="1417320" cy="411480"/>
          </a:xfrm>
          <a:prstGeom prst="rect">
            <a:avLst/>
          </a:prstGeom>
          <a:noFill/>
          <a:ln/>
        </p:spPr>
        <p:txBody>
          <a:bodyPr wrap="square" lIns="0" tIns="0" rIns="0" bIns="0" rtlCol="0" anchor="t"/>
          <a:lstStyle/>
          <a:p>
            <a:pPr algn="ctr" indent="0" marL="0">
              <a:buNone/>
            </a:pPr>
            <a:r>
              <a:rPr lang="en-US" sz="1000" dirty="0">
                <a:solidFill>
                  <a:srgbClr val="5B6B70"/>
                </a:solidFill>
              </a:rPr>
              <a:t>BatchNorm · ReLU · Dropout</a:t>
            </a:r>
            <a:endParaRPr lang="en-US" sz="1000" dirty="0"/>
          </a:p>
        </p:txBody>
      </p:sp>
      <p:sp>
        <p:nvSpPr>
          <p:cNvPr id="17" name="layer arrow 3"/>
          <p:cNvSpPr/>
          <p:nvPr/>
        </p:nvSpPr>
        <p:spPr>
          <a:xfrm>
            <a:off x="4672584" y="3474720"/>
            <a:ext cx="301752" cy="0"/>
          </a:xfrm>
          <a:prstGeom prst="line">
            <a:avLst/>
          </a:prstGeom>
          <a:noFill/>
          <a:ln w="25400">
            <a:solidFill>
              <a:srgbClr val="9AA9AD"/>
            </a:solidFill>
            <a:prstDash val="solid"/>
            <a:tailEnd type="triangle"/>
          </a:ln>
        </p:spPr>
      </p:sp>
      <p:sp>
        <p:nvSpPr>
          <p:cNvPr id="18" name="layer Dense 32"/>
          <p:cNvSpPr/>
          <p:nvPr/>
        </p:nvSpPr>
        <p:spPr>
          <a:xfrm>
            <a:off x="4992624" y="2331720"/>
            <a:ext cx="1143000" cy="2286000"/>
          </a:xfrm>
          <a:prstGeom prst="roundRect">
            <a:avLst>
              <a:gd name="adj" fmla="val 12000"/>
            </a:avLst>
          </a:prstGeom>
          <a:solidFill>
            <a:srgbClr val="13A89E"/>
          </a:solidFill>
          <a:ln w="12700">
            <a:solidFill>
              <a:srgbClr val="13A89E"/>
            </a:solidFill>
            <a:prstDash val="solid"/>
          </a:ln>
        </p:spPr>
      </p:sp>
      <p:sp>
        <p:nvSpPr>
          <p:cNvPr id="19" name="Text 17"/>
          <p:cNvSpPr txBox="1"/>
          <p:nvPr/>
        </p:nvSpPr>
        <p:spPr>
          <a:xfrm>
            <a:off x="4992624" y="2331720"/>
            <a:ext cx="1143000" cy="2286000"/>
          </a:xfrm>
          <a:prstGeom prst="rect">
            <a:avLst/>
          </a:prstGeom>
          <a:noFill/>
          <a:ln/>
        </p:spPr>
        <p:txBody>
          <a:bodyPr wrap="square" lIns="0" tIns="0" rIns="0" bIns="0" rtlCol="0" anchor="ctr"/>
          <a:lstStyle/>
          <a:p>
            <a:pPr algn="ctr" indent="0" marL="0">
              <a:buNone/>
            </a:pPr>
            <a:r>
              <a:rPr lang="en-US" sz="2400" b="1" dirty="0">
                <a:solidFill>
                  <a:srgbClr val="FFFFFF"/>
                </a:solidFill>
              </a:rPr>
              <a:t>32</a:t>
            </a:r>
            <a:endParaRPr lang="en-US" sz="2400" dirty="0"/>
          </a:p>
        </p:txBody>
      </p:sp>
      <p:sp>
        <p:nvSpPr>
          <p:cNvPr id="20" name="Text 18"/>
          <p:cNvSpPr txBox="1"/>
          <p:nvPr/>
        </p:nvSpPr>
        <p:spPr>
          <a:xfrm>
            <a:off x="4855464" y="5577840"/>
            <a:ext cx="1417320" cy="320040"/>
          </a:xfrm>
          <a:prstGeom prst="rect">
            <a:avLst/>
          </a:prstGeom>
          <a:noFill/>
          <a:ln/>
        </p:spPr>
        <p:txBody>
          <a:bodyPr wrap="square" lIns="0" tIns="0" rIns="0" bIns="0" rtlCol="0" anchor="ctr"/>
          <a:lstStyle/>
          <a:p>
            <a:pPr algn="ctr" indent="0" marL="0">
              <a:buNone/>
            </a:pPr>
            <a:r>
              <a:rPr lang="en-US" sz="1400" b="1" dirty="0">
                <a:solidFill>
                  <a:srgbClr val="0E3B3D"/>
                </a:solidFill>
              </a:rPr>
              <a:t>Dense 32</a:t>
            </a:r>
            <a:endParaRPr lang="en-US" sz="1400" dirty="0"/>
          </a:p>
        </p:txBody>
      </p:sp>
      <p:sp>
        <p:nvSpPr>
          <p:cNvPr id="21" name="Text 19"/>
          <p:cNvSpPr txBox="1"/>
          <p:nvPr/>
        </p:nvSpPr>
        <p:spPr>
          <a:xfrm>
            <a:off x="4855464" y="5897880"/>
            <a:ext cx="1417320" cy="411480"/>
          </a:xfrm>
          <a:prstGeom prst="rect">
            <a:avLst/>
          </a:prstGeom>
          <a:noFill/>
          <a:ln/>
        </p:spPr>
        <p:txBody>
          <a:bodyPr wrap="square" lIns="0" tIns="0" rIns="0" bIns="0" rtlCol="0" anchor="t"/>
          <a:lstStyle/>
          <a:p>
            <a:pPr algn="ctr" indent="0" marL="0">
              <a:buNone/>
            </a:pPr>
            <a:r>
              <a:rPr lang="en-US" sz="1000" dirty="0">
                <a:solidFill>
                  <a:srgbClr val="5B6B70"/>
                </a:solidFill>
              </a:rPr>
              <a:t>BatchNorm · ReLU · Dropout</a:t>
            </a:r>
            <a:endParaRPr lang="en-US" sz="1000" dirty="0"/>
          </a:p>
        </p:txBody>
      </p:sp>
      <p:sp>
        <p:nvSpPr>
          <p:cNvPr id="22" name="layer arrow 4"/>
          <p:cNvSpPr/>
          <p:nvPr/>
        </p:nvSpPr>
        <p:spPr>
          <a:xfrm>
            <a:off x="6153912" y="3474720"/>
            <a:ext cx="301752" cy="0"/>
          </a:xfrm>
          <a:prstGeom prst="line">
            <a:avLst/>
          </a:prstGeom>
          <a:noFill/>
          <a:ln w="25400">
            <a:solidFill>
              <a:srgbClr val="9AA9AD"/>
            </a:solidFill>
            <a:prstDash val="solid"/>
            <a:tailEnd type="triangle"/>
          </a:ln>
        </p:spPr>
      </p:sp>
      <p:sp>
        <p:nvSpPr>
          <p:cNvPr id="23" name="layer Output"/>
          <p:cNvSpPr/>
          <p:nvPr/>
        </p:nvSpPr>
        <p:spPr>
          <a:xfrm>
            <a:off x="6473952" y="2606040"/>
            <a:ext cx="1143000" cy="1737360"/>
          </a:xfrm>
          <a:prstGeom prst="roundRect">
            <a:avLst>
              <a:gd name="adj" fmla="val 12000"/>
            </a:avLst>
          </a:prstGeom>
          <a:solidFill>
            <a:srgbClr val="F2994A"/>
          </a:solidFill>
          <a:ln w="12700">
            <a:solidFill>
              <a:srgbClr val="F2994A"/>
            </a:solidFill>
            <a:prstDash val="solid"/>
          </a:ln>
        </p:spPr>
      </p:sp>
      <p:sp>
        <p:nvSpPr>
          <p:cNvPr id="24" name="Text 22"/>
          <p:cNvSpPr txBox="1"/>
          <p:nvPr/>
        </p:nvSpPr>
        <p:spPr>
          <a:xfrm>
            <a:off x="6473952" y="2606040"/>
            <a:ext cx="1143000" cy="173736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25" name="Text 23"/>
          <p:cNvSpPr txBox="1"/>
          <p:nvPr/>
        </p:nvSpPr>
        <p:spPr>
          <a:xfrm>
            <a:off x="6336792" y="5577840"/>
            <a:ext cx="1417320" cy="320040"/>
          </a:xfrm>
          <a:prstGeom prst="rect">
            <a:avLst/>
          </a:prstGeom>
          <a:noFill/>
          <a:ln/>
        </p:spPr>
        <p:txBody>
          <a:bodyPr wrap="square" lIns="0" tIns="0" rIns="0" bIns="0" rtlCol="0" anchor="ctr"/>
          <a:lstStyle/>
          <a:p>
            <a:pPr algn="ctr" indent="0" marL="0">
              <a:buNone/>
            </a:pPr>
            <a:r>
              <a:rPr lang="en-US" sz="1400" b="1" dirty="0">
                <a:solidFill>
                  <a:srgbClr val="0E3B3D"/>
                </a:solidFill>
              </a:rPr>
              <a:t>Output</a:t>
            </a:r>
            <a:endParaRPr lang="en-US" sz="1400" dirty="0"/>
          </a:p>
        </p:txBody>
      </p:sp>
      <p:sp>
        <p:nvSpPr>
          <p:cNvPr id="26" name="Text 24"/>
          <p:cNvSpPr txBox="1"/>
          <p:nvPr/>
        </p:nvSpPr>
        <p:spPr>
          <a:xfrm>
            <a:off x="6336792" y="5897880"/>
            <a:ext cx="1417320" cy="411480"/>
          </a:xfrm>
          <a:prstGeom prst="rect">
            <a:avLst/>
          </a:prstGeom>
          <a:noFill/>
          <a:ln/>
        </p:spPr>
        <p:txBody>
          <a:bodyPr wrap="square" lIns="0" tIns="0" rIns="0" bIns="0" rtlCol="0" anchor="t"/>
          <a:lstStyle/>
          <a:p>
            <a:pPr algn="ctr" indent="0" marL="0">
              <a:buNone/>
            </a:pPr>
            <a:r>
              <a:rPr lang="en-US" sz="1000" dirty="0">
                <a:solidFill>
                  <a:srgbClr val="5B6B70"/>
                </a:solidFill>
              </a:rPr>
              <a:t>5 diseases (softmax)</a:t>
            </a:r>
            <a:endParaRPr lang="en-US" sz="1000" dirty="0"/>
          </a:p>
        </p:txBody>
      </p:sp>
      <p:sp>
        <p:nvSpPr>
          <p:cNvPr id="27" name="card"/>
          <p:cNvSpPr/>
          <p:nvPr/>
        </p:nvSpPr>
        <p:spPr>
          <a:xfrm>
            <a:off x="8183880" y="1463040"/>
            <a:ext cx="3429000" cy="4023360"/>
          </a:xfrm>
          <a:prstGeom prst="roundRect">
            <a:avLst>
              <a:gd name="adj" fmla="val 3200"/>
            </a:avLst>
          </a:prstGeom>
          <a:solidFill>
            <a:srgbClr val="EEF6F5"/>
          </a:solidFill>
          <a:ln w="12700">
            <a:solidFill>
              <a:srgbClr val="EEF6F5"/>
            </a:solidFill>
            <a:prstDash val="solid"/>
          </a:ln>
        </p:spPr>
      </p:sp>
      <p:sp>
        <p:nvSpPr>
          <p:cNvPr id="28" name="Text 26"/>
          <p:cNvSpPr txBox="1"/>
          <p:nvPr/>
        </p:nvSpPr>
        <p:spPr>
          <a:xfrm>
            <a:off x="8458200" y="1691640"/>
            <a:ext cx="2926080" cy="411480"/>
          </a:xfrm>
          <a:prstGeom prst="rect">
            <a:avLst/>
          </a:prstGeom>
          <a:noFill/>
          <a:ln/>
        </p:spPr>
        <p:txBody>
          <a:bodyPr wrap="square" lIns="0" tIns="0" rIns="0" bIns="0" rtlCol="0" anchor="ctr"/>
          <a:lstStyle/>
          <a:p>
            <a:pPr indent="0" marL="0">
              <a:buNone/>
            </a:pPr>
            <a:r>
              <a:rPr lang="en-US" sz="1800" b="1" dirty="0">
                <a:solidFill>
                  <a:srgbClr val="0E3B3D"/>
                </a:solidFill>
              </a:rPr>
              <a:t>How it is trained</a:t>
            </a:r>
            <a:endParaRPr lang="en-US" sz="1800" dirty="0"/>
          </a:p>
        </p:txBody>
      </p:sp>
      <p:sp>
        <p:nvSpPr>
          <p:cNvPr id="29" name="Text 27"/>
          <p:cNvSpPr txBox="1"/>
          <p:nvPr/>
        </p:nvSpPr>
        <p:spPr>
          <a:xfrm>
            <a:off x="8458200" y="2194560"/>
            <a:ext cx="297180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28"/>
                </a:solidFill>
              </a:rPr>
              <a:t>Adam optimizer, cross-entropy loss</a:t>
            </a:r>
            <a:endParaRPr lang="en-US" sz="1400" dirty="0"/>
          </a:p>
          <a:p>
            <a:pPr marL="342900" indent="-342900">
              <a:spcAft>
                <a:spcPts val="600"/>
              </a:spcAft>
              <a:buSzPct val="100000"/>
              <a:buChar char="•"/>
            </a:pPr>
            <a:r>
              <a:rPr lang="en-US" sz="1400" dirty="0">
                <a:solidFill>
                  <a:srgbClr val="1B2428"/>
                </a:solidFill>
              </a:rPr>
              <a:t>Mini-batches of 32 patients</a:t>
            </a:r>
            <a:endParaRPr lang="en-US" sz="1400" dirty="0"/>
          </a:p>
          <a:p>
            <a:pPr marL="342900" indent="-342900">
              <a:spcAft>
                <a:spcPts val="600"/>
              </a:spcAft>
              <a:buSzPct val="100000"/>
              <a:buChar char="•"/>
            </a:pPr>
            <a:r>
              <a:rPr lang="en-US" sz="1400" dirty="0">
                <a:solidFill>
                  <a:srgbClr val="1B2428"/>
                </a:solidFill>
              </a:rPr>
              <a:t>15% of training data used for validation</a:t>
            </a:r>
            <a:endParaRPr lang="en-US" sz="1400" dirty="0"/>
          </a:p>
          <a:p>
            <a:pPr marL="342900" indent="-342900">
              <a:spcAft>
                <a:spcPts val="600"/>
              </a:spcAft>
              <a:buSzPct val="100000"/>
              <a:buChar char="•"/>
            </a:pPr>
            <a:r>
              <a:rPr lang="en-US" sz="1400" dirty="0">
                <a:solidFill>
                  <a:srgbClr val="1B2428"/>
                </a:solidFill>
              </a:rPr>
              <a:t>Early stopping: training stops when validation loss stops improving; best weights kept</a:t>
            </a:r>
            <a:endParaRPr lang="en-US" sz="1400" dirty="0"/>
          </a:p>
          <a:p>
            <a:pPr marL="342900" indent="-342900">
              <a:spcAft>
                <a:spcPts val="600"/>
              </a:spcAft>
              <a:buSzPct val="100000"/>
              <a:buChar char="•"/>
            </a:pPr>
            <a:r>
              <a:rPr lang="en-US" sz="1400" dirty="0">
                <a:solidFill>
                  <a:srgbClr val="1B2428"/>
                </a:solidFill>
              </a:rPr>
              <a:t>Dropout + BatchNorm prevent overfitting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Deep learning vs machine-learning models</a:t>
            </a:r>
            <a:endParaRPr lang="en-US" sz="3200" dirty="0"/>
          </a:p>
        </p:txBody>
      </p:sp>
      <p:graphicFrame>
        <p:nvGraphicFramePr>
          <p:cNvPr id="3" name="model comparison chart"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winner card"/>
          <p:cNvSpPr/>
          <p:nvPr/>
        </p:nvSpPr>
        <p:spPr>
          <a:xfrm>
            <a:off x="7863840" y="1325880"/>
            <a:ext cx="3749040" cy="4754880"/>
          </a:xfrm>
          <a:prstGeom prst="roundRect">
            <a:avLst>
              <a:gd name="adj" fmla="val 2927"/>
            </a:avLst>
          </a:prstGeom>
          <a:solidFill>
            <a:srgbClr val="0E3B3D"/>
          </a:solidFill>
          <a:ln w="12700">
            <a:solidFill>
              <a:srgbClr val="0E3B3D"/>
            </a:solidFill>
            <a:prstDash val="solid"/>
          </a:ln>
        </p:spPr>
      </p:sp>
      <p:pic>
        <p:nvPicPr>
          <p:cNvPr id="5" name="trophy icon" descr="preencoded.png">    </p:cNvPr>
          <p:cNvPicPr>
            <a:picLocks noChangeAspect="1"/>
          </p:cNvPicPr>
          <p:nvPr/>
        </p:nvPicPr>
        <p:blipFill>
          <a:blip r:embed="rId2"/>
          <a:stretch>
            <a:fillRect/>
          </a:stretch>
        </p:blipFill>
        <p:spPr>
          <a:xfrm>
            <a:off x="8183880" y="1645920"/>
            <a:ext cx="685800" cy="685800"/>
          </a:xfrm>
          <a:prstGeom prst="rect">
            <a:avLst/>
          </a:prstGeom>
        </p:spPr>
      </p:pic>
      <p:sp>
        <p:nvSpPr>
          <p:cNvPr id="6" name="Text 2"/>
          <p:cNvSpPr txBox="1"/>
          <p:nvPr/>
        </p:nvSpPr>
        <p:spPr>
          <a:xfrm>
            <a:off x="8183880" y="2468880"/>
            <a:ext cx="3200400" cy="731520"/>
          </a:xfrm>
          <a:prstGeom prst="rect">
            <a:avLst/>
          </a:prstGeom>
          <a:noFill/>
          <a:ln/>
        </p:spPr>
        <p:txBody>
          <a:bodyPr wrap="square" lIns="0" tIns="0" rIns="0" bIns="0" rtlCol="0" anchor="t"/>
          <a:lstStyle/>
          <a:p>
            <a:pPr indent="0" marL="0">
              <a:buNone/>
            </a:pPr>
            <a:r>
              <a:rPr lang="en-US" sz="1900" b="1" dirty="0">
                <a:solidFill>
                  <a:srgbClr val="FFFFFF"/>
                </a:solidFill>
              </a:rPr>
              <a:t>Selected: Deep Neural Network</a:t>
            </a:r>
            <a:endParaRPr lang="en-US" sz="1900" dirty="0"/>
          </a:p>
        </p:txBody>
      </p:sp>
      <p:sp>
        <p:nvSpPr>
          <p:cNvPr id="7" name="Text 3"/>
          <p:cNvSpPr txBox="1"/>
          <p:nvPr/>
        </p:nvSpPr>
        <p:spPr>
          <a:xfrm>
            <a:off x="8183880" y="3246120"/>
            <a:ext cx="32004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D7ECEA"/>
                </a:solidFill>
              </a:rPr>
              <a:t>Most reliable probabilities of all models (lowest log loss), so its confidence scores can be trusted</a:t>
            </a:r>
            <a:endParaRPr lang="en-US" sz="1400" dirty="0"/>
          </a:p>
          <a:p>
            <a:pPr marL="342900" indent="-342900">
              <a:spcAft>
                <a:spcPts val="800"/>
              </a:spcAft>
              <a:buSzPct val="100000"/>
              <a:buChar char="•"/>
            </a:pPr>
            <a:r>
              <a:rPr lang="en-US" sz="1400" dirty="0">
                <a:solidFill>
                  <a:srgbClr val="D7ECEA"/>
                </a:solidFill>
              </a:rPr>
              <a:t>96.0% accuracy on the 200 unseen patients, the best final score</a:t>
            </a:r>
            <a:endParaRPr lang="en-US" sz="1400" dirty="0"/>
          </a:p>
          <a:p>
            <a:pPr marL="342900" indent="-342900">
              <a:spcAft>
                <a:spcPts val="800"/>
              </a:spcAft>
              <a:buSzPct val="100000"/>
              <a:buChar char="•"/>
            </a:pPr>
            <a:r>
              <a:rPr lang="en-US" sz="1400" dirty="0">
                <a:solidFill>
                  <a:srgbClr val="D7ECEA"/>
                </a:solidFill>
              </a:rPr>
              <a:t>Train 95.6% ≈ test 96.0%: no overfitting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indent="0" marL="0">
              <a:buNone/>
            </a:pPr>
            <a:r>
              <a:rPr lang="en-US" sz="3200" b="1" dirty="0">
                <a:solidFill>
                  <a:schemeClr val="bg1"/>
                </a:solidFill>
              </a:rPr>
              <a:t>Results on 200 unseen patients</a:t>
            </a:r>
            <a:endParaRPr lang="en-US" sz="3200" dirty="0"/>
          </a:p>
        </p:txBody>
      </p:sp>
      <p:sp>
        <p:nvSpPr>
          <p:cNvPr id="3" name="result card 1"/>
          <p:cNvSpPr/>
          <p:nvPr/>
        </p:nvSpPr>
        <p:spPr>
          <a:xfrm>
            <a:off x="731520" y="1645920"/>
            <a:ext cx="2514600" cy="2377440"/>
          </a:xfrm>
          <a:prstGeom prst="roundRect">
            <a:avLst>
              <a:gd name="adj" fmla="val 5769"/>
            </a:avLst>
          </a:prstGeom>
          <a:solidFill>
            <a:srgbClr val="135052"/>
          </a:solidFill>
          <a:ln w="12700">
            <a:solidFill>
              <a:srgbClr val="135052"/>
            </a:solidFill>
            <a:prstDash val="solid"/>
          </a:ln>
        </p:spPr>
      </p:sp>
      <p:sp>
        <p:nvSpPr>
          <p:cNvPr id="4" name="Text 2"/>
          <p:cNvSpPr txBox="1"/>
          <p:nvPr/>
        </p:nvSpPr>
        <p:spPr>
          <a:xfrm>
            <a:off x="731520" y="1874520"/>
            <a:ext cx="2514600" cy="1188720"/>
          </a:xfrm>
          <a:prstGeom prst="rect">
            <a:avLst/>
          </a:prstGeom>
          <a:noFill/>
          <a:ln/>
        </p:spPr>
        <p:txBody>
          <a:bodyPr wrap="square" lIns="0" tIns="0" rIns="0" bIns="0" rtlCol="0" anchor="ctr"/>
          <a:lstStyle/>
          <a:p>
            <a:pPr algn="ctr" indent="0" marL="0">
              <a:buNone/>
            </a:pPr>
            <a:r>
              <a:rPr lang="en-US" sz="4800" b="1" dirty="0">
                <a:solidFill>
                  <a:srgbClr val="5FD3C7"/>
                </a:solidFill>
              </a:rPr>
              <a:t>96.0%</a:t>
            </a:r>
            <a:endParaRPr lang="en-US" sz="4800" dirty="0"/>
          </a:p>
        </p:txBody>
      </p:sp>
      <p:sp>
        <p:nvSpPr>
          <p:cNvPr id="5" name="Text 3"/>
          <p:cNvSpPr txBox="1"/>
          <p:nvPr/>
        </p:nvSpPr>
        <p:spPr>
          <a:xfrm>
            <a:off x="731520" y="3108960"/>
            <a:ext cx="2514600" cy="457200"/>
          </a:xfrm>
          <a:prstGeom prst="rect">
            <a:avLst/>
          </a:prstGeom>
          <a:noFill/>
          <a:ln/>
        </p:spPr>
        <p:txBody>
          <a:bodyPr wrap="square" lIns="0" tIns="0" rIns="0" bIns="0" rtlCol="0" anchor="ctr"/>
          <a:lstStyle/>
          <a:p>
            <a:pPr algn="ctr" indent="0" marL="0">
              <a:buNone/>
            </a:pPr>
            <a:r>
              <a:rPr lang="en-US" sz="1700" dirty="0">
                <a:solidFill>
                  <a:srgbClr val="B9DCD8"/>
                </a:solidFill>
              </a:rPr>
              <a:t>Accuracy</a:t>
            </a:r>
            <a:endParaRPr lang="en-US" sz="1700" dirty="0"/>
          </a:p>
        </p:txBody>
      </p:sp>
      <p:sp>
        <p:nvSpPr>
          <p:cNvPr id="6" name="result card 2"/>
          <p:cNvSpPr/>
          <p:nvPr/>
        </p:nvSpPr>
        <p:spPr>
          <a:xfrm>
            <a:off x="3474720" y="1645920"/>
            <a:ext cx="2514600" cy="2377440"/>
          </a:xfrm>
          <a:prstGeom prst="roundRect">
            <a:avLst>
              <a:gd name="adj" fmla="val 5769"/>
            </a:avLst>
          </a:prstGeom>
          <a:solidFill>
            <a:srgbClr val="135052"/>
          </a:solidFill>
          <a:ln w="12700">
            <a:solidFill>
              <a:srgbClr val="135052"/>
            </a:solidFill>
            <a:prstDash val="solid"/>
          </a:ln>
        </p:spPr>
      </p:sp>
      <p:sp>
        <p:nvSpPr>
          <p:cNvPr id="7" name="Text 5"/>
          <p:cNvSpPr txBox="1"/>
          <p:nvPr/>
        </p:nvSpPr>
        <p:spPr>
          <a:xfrm>
            <a:off x="3474720" y="1874520"/>
            <a:ext cx="2514600" cy="1188720"/>
          </a:xfrm>
          <a:prstGeom prst="rect">
            <a:avLst/>
          </a:prstGeom>
          <a:noFill/>
          <a:ln/>
        </p:spPr>
        <p:txBody>
          <a:bodyPr wrap="square" lIns="0" tIns="0" rIns="0" bIns="0" rtlCol="0" anchor="ctr"/>
          <a:lstStyle/>
          <a:p>
            <a:pPr algn="ctr" indent="0" marL="0">
              <a:buNone/>
            </a:pPr>
            <a:r>
              <a:rPr lang="en-US" sz="4800" b="1" dirty="0">
                <a:solidFill>
                  <a:srgbClr val="FFFFFF"/>
                </a:solidFill>
              </a:rPr>
              <a:t>0.960</a:t>
            </a:r>
            <a:endParaRPr lang="en-US" sz="4800" dirty="0"/>
          </a:p>
        </p:txBody>
      </p:sp>
      <p:sp>
        <p:nvSpPr>
          <p:cNvPr id="8" name="Text 6"/>
          <p:cNvSpPr txBox="1"/>
          <p:nvPr/>
        </p:nvSpPr>
        <p:spPr>
          <a:xfrm>
            <a:off x="3474720" y="3108960"/>
            <a:ext cx="2514600" cy="457200"/>
          </a:xfrm>
          <a:prstGeom prst="rect">
            <a:avLst/>
          </a:prstGeom>
          <a:noFill/>
          <a:ln/>
        </p:spPr>
        <p:txBody>
          <a:bodyPr wrap="square" lIns="0" tIns="0" rIns="0" bIns="0" rtlCol="0" anchor="ctr"/>
          <a:lstStyle/>
          <a:p>
            <a:pPr algn="ctr" indent="0" marL="0">
              <a:buNone/>
            </a:pPr>
            <a:r>
              <a:rPr lang="en-US" sz="1700" dirty="0">
                <a:solidFill>
                  <a:srgbClr val="B9DCD8"/>
                </a:solidFill>
              </a:rPr>
              <a:t>F1 score</a:t>
            </a:r>
            <a:endParaRPr lang="en-US" sz="1700" dirty="0"/>
          </a:p>
        </p:txBody>
      </p:sp>
      <p:sp>
        <p:nvSpPr>
          <p:cNvPr id="9" name="result card 3"/>
          <p:cNvSpPr/>
          <p:nvPr/>
        </p:nvSpPr>
        <p:spPr>
          <a:xfrm>
            <a:off x="6217920" y="1645920"/>
            <a:ext cx="2514600" cy="2377440"/>
          </a:xfrm>
          <a:prstGeom prst="roundRect">
            <a:avLst>
              <a:gd name="adj" fmla="val 5769"/>
            </a:avLst>
          </a:prstGeom>
          <a:solidFill>
            <a:srgbClr val="135052"/>
          </a:solidFill>
          <a:ln w="12700">
            <a:solidFill>
              <a:srgbClr val="135052"/>
            </a:solidFill>
            <a:prstDash val="solid"/>
          </a:ln>
        </p:spPr>
      </p:sp>
      <p:sp>
        <p:nvSpPr>
          <p:cNvPr id="10" name="Text 8"/>
          <p:cNvSpPr txBox="1"/>
          <p:nvPr/>
        </p:nvSpPr>
        <p:spPr>
          <a:xfrm>
            <a:off x="6217920" y="1874520"/>
            <a:ext cx="2514600" cy="1188720"/>
          </a:xfrm>
          <a:prstGeom prst="rect">
            <a:avLst/>
          </a:prstGeom>
          <a:noFill/>
          <a:ln/>
        </p:spPr>
        <p:txBody>
          <a:bodyPr wrap="square" lIns="0" tIns="0" rIns="0" bIns="0" rtlCol="0" anchor="ctr"/>
          <a:lstStyle/>
          <a:p>
            <a:pPr algn="ctr" indent="0" marL="0">
              <a:buNone/>
            </a:pPr>
            <a:r>
              <a:rPr lang="en-US" sz="4800" b="1" dirty="0">
                <a:solidFill>
                  <a:srgbClr val="FFFFFF"/>
                </a:solidFill>
              </a:rPr>
              <a:t>0.979</a:t>
            </a:r>
            <a:endParaRPr lang="en-US" sz="4800" dirty="0"/>
          </a:p>
        </p:txBody>
      </p:sp>
      <p:sp>
        <p:nvSpPr>
          <p:cNvPr id="11" name="Text 9"/>
          <p:cNvSpPr txBox="1"/>
          <p:nvPr/>
        </p:nvSpPr>
        <p:spPr>
          <a:xfrm>
            <a:off x="6217920" y="3108960"/>
            <a:ext cx="2514600" cy="457200"/>
          </a:xfrm>
          <a:prstGeom prst="rect">
            <a:avLst/>
          </a:prstGeom>
          <a:noFill/>
          <a:ln/>
        </p:spPr>
        <p:txBody>
          <a:bodyPr wrap="square" lIns="0" tIns="0" rIns="0" bIns="0" rtlCol="0" anchor="ctr"/>
          <a:lstStyle/>
          <a:p>
            <a:pPr algn="ctr" indent="0" marL="0">
              <a:buNone/>
            </a:pPr>
            <a:r>
              <a:rPr lang="en-US" sz="1700" dirty="0">
                <a:solidFill>
                  <a:srgbClr val="B9DCD8"/>
                </a:solidFill>
              </a:rPr>
              <a:t>AUC</a:t>
            </a:r>
            <a:endParaRPr lang="en-US" sz="1700" dirty="0"/>
          </a:p>
        </p:txBody>
      </p:sp>
      <p:sp>
        <p:nvSpPr>
          <p:cNvPr id="12" name="result card 4"/>
          <p:cNvSpPr/>
          <p:nvPr/>
        </p:nvSpPr>
        <p:spPr>
          <a:xfrm>
            <a:off x="8961120" y="1645920"/>
            <a:ext cx="2514600" cy="2377440"/>
          </a:xfrm>
          <a:prstGeom prst="roundRect">
            <a:avLst>
              <a:gd name="adj" fmla="val 5769"/>
            </a:avLst>
          </a:prstGeom>
          <a:solidFill>
            <a:srgbClr val="135052"/>
          </a:solidFill>
          <a:ln w="12700">
            <a:solidFill>
              <a:srgbClr val="135052"/>
            </a:solidFill>
            <a:prstDash val="solid"/>
          </a:ln>
        </p:spPr>
      </p:sp>
      <p:sp>
        <p:nvSpPr>
          <p:cNvPr id="13" name="Text 11"/>
          <p:cNvSpPr txBox="1"/>
          <p:nvPr/>
        </p:nvSpPr>
        <p:spPr>
          <a:xfrm>
            <a:off x="8961120" y="1874520"/>
            <a:ext cx="2514600" cy="1188720"/>
          </a:xfrm>
          <a:prstGeom prst="rect">
            <a:avLst/>
          </a:prstGeom>
          <a:noFill/>
          <a:ln/>
        </p:spPr>
        <p:txBody>
          <a:bodyPr wrap="square" lIns="0" tIns="0" rIns="0" bIns="0" rtlCol="0" anchor="ctr"/>
          <a:lstStyle/>
          <a:p>
            <a:pPr algn="ctr" indent="0" marL="0">
              <a:buNone/>
            </a:pPr>
            <a:r>
              <a:rPr lang="en-US" sz="4800" b="1" dirty="0">
                <a:solidFill>
                  <a:srgbClr val="FFFFFF"/>
                </a:solidFill>
              </a:rPr>
              <a:t>97.5%</a:t>
            </a:r>
            <a:endParaRPr lang="en-US" sz="4800" dirty="0"/>
          </a:p>
        </p:txBody>
      </p:sp>
      <p:sp>
        <p:nvSpPr>
          <p:cNvPr id="14" name="Text 12"/>
          <p:cNvSpPr txBox="1"/>
          <p:nvPr/>
        </p:nvSpPr>
        <p:spPr>
          <a:xfrm>
            <a:off x="8961120" y="3108960"/>
            <a:ext cx="2514600" cy="457200"/>
          </a:xfrm>
          <a:prstGeom prst="rect">
            <a:avLst/>
          </a:prstGeom>
          <a:noFill/>
          <a:ln/>
        </p:spPr>
        <p:txBody>
          <a:bodyPr wrap="square" lIns="0" tIns="0" rIns="0" bIns="0" rtlCol="0" anchor="ctr"/>
          <a:lstStyle/>
          <a:p>
            <a:pPr algn="ctr" indent="0" marL="0">
              <a:buNone/>
            </a:pPr>
            <a:r>
              <a:rPr lang="en-US" sz="1700" dirty="0">
                <a:solidFill>
                  <a:srgbClr val="B9DCD8"/>
                </a:solidFill>
              </a:rPr>
              <a:t>Top-2 accuracy</a:t>
            </a:r>
            <a:endParaRPr lang="en-US" sz="1700" dirty="0"/>
          </a:p>
        </p:txBody>
      </p:sp>
      <p:sp>
        <p:nvSpPr>
          <p:cNvPr id="15" name="Text 13"/>
          <p:cNvSpPr txBox="1"/>
          <p:nvPr/>
        </p:nvSpPr>
        <p:spPr>
          <a:xfrm>
            <a:off x="731520" y="4480560"/>
            <a:ext cx="10698480" cy="457200"/>
          </a:xfrm>
          <a:prstGeom prst="rect">
            <a:avLst/>
          </a:prstGeom>
          <a:noFill/>
          <a:ln/>
        </p:spPr>
        <p:txBody>
          <a:bodyPr wrap="square" lIns="0" tIns="0" rIns="0" bIns="0" rtlCol="0" anchor="ctr"/>
          <a:lstStyle/>
          <a:p>
            <a:pPr indent="0" marL="0">
              <a:buNone/>
            </a:pPr>
            <a:r>
              <a:rPr lang="en-US" sz="1800" dirty="0">
                <a:solidFill>
                  <a:srgbClr val="FFFFFF"/>
                </a:solidFill>
              </a:rPr>
              <a:t>Precision 96.1%  ·  Recall 96.0%  ·  </a:t>
            </a:r>
            <a:pPr indent="0" marL="0">
              <a:buNone/>
            </a:pPr>
            <a:r>
              <a:rPr lang="en-US" sz="1800" b="1" dirty="0">
                <a:solidFill>
                  <a:srgbClr val="F2994A"/>
                </a:solidFill>
              </a:rPr>
              <a:t>Random guessing would score only 20.5%</a:t>
            </a:r>
            <a:endParaRPr lang="en-US" sz="1800" dirty="0"/>
          </a:p>
        </p:txBody>
      </p:sp>
      <p:sp>
        <p:nvSpPr>
          <p:cNvPr id="16" name="Text 14"/>
          <p:cNvSpPr txBox="1"/>
          <p:nvPr/>
        </p:nvSpPr>
        <p:spPr>
          <a:xfrm>
            <a:off x="731520" y="5074920"/>
            <a:ext cx="10698480" cy="731520"/>
          </a:xfrm>
          <a:prstGeom prst="rect">
            <a:avLst/>
          </a:prstGeom>
          <a:noFill/>
          <a:ln/>
        </p:spPr>
        <p:txBody>
          <a:bodyPr wrap="square" lIns="0" tIns="0" rIns="0" bIns="0" rtlCol="0" anchor="ctr"/>
          <a:lstStyle/>
          <a:p>
            <a:pPr indent="0" marL="0">
              <a:buNone/>
            </a:pPr>
            <a:r>
              <a:rPr lang="en-US" sz="1500" i="1" dirty="0">
                <a:solidFill>
                  <a:srgbClr val="B9DCD8"/>
                </a:solidFill>
              </a:rPr>
              <a:t>The test patients were held back before training, so these scores show how the model performs on new patients.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C7C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Every disease is predicted well</a:t>
            </a:r>
            <a:endParaRPr lang="en-US" sz="3200" dirty="0"/>
          </a:p>
        </p:txBody>
      </p:sp>
      <p:graphicFrame>
        <p:nvGraphicFramePr>
          <p:cNvPr id="3" name="per-class chart" descr=""/>
          <p:cNvGraphicFramePr/>
          <p:nvPr/>
        </p:nvGraphicFramePr>
        <p:xfrm>
          <a:off x="548640" y="1325880"/>
          <a:ext cx="6400800" cy="4846320"/>
        </p:xfrm>
        <a:graphic xmlns:a="http://schemas.openxmlformats.org/drawingml/2006/main">
          <a:graphicData uri="http://schemas.openxmlformats.org/drawingml/2006/chart">
            <c:chart xmlns:c="http://schemas.openxmlformats.org/drawingml/2006/chart" r:id="rId1"/>
          </a:graphicData>
        </a:graphic>
      </p:graphicFrame>
      <p:pic>
        <p:nvPicPr>
          <p:cNvPr id="4" name="confusion matrix" descr="Confusion matrix of the 200 test patients">    </p:cNvPr>
          <p:cNvPicPr>
            <a:picLocks noChangeAspect="1"/>
          </p:cNvPicPr>
          <p:nvPr/>
        </p:nvPicPr>
        <p:blipFill>
          <a:blip r:embed="rId2"/>
          <a:stretch>
            <a:fillRect/>
          </a:stretch>
        </p:blipFill>
        <p:spPr>
          <a:xfrm>
            <a:off x="7269480" y="1371600"/>
            <a:ext cx="4389120" cy="3926322"/>
          </a:xfrm>
          <a:prstGeom prst="rect">
            <a:avLst/>
          </a:prstGeom>
        </p:spPr>
      </p:pic>
      <p:sp>
        <p:nvSpPr>
          <p:cNvPr id="5" name="Text 1"/>
          <p:cNvSpPr txBox="1"/>
          <p:nvPr/>
        </p:nvSpPr>
        <p:spPr>
          <a:xfrm>
            <a:off x="7269480" y="5435082"/>
            <a:ext cx="4343400" cy="548640"/>
          </a:xfrm>
          <a:prstGeom prst="rect">
            <a:avLst/>
          </a:prstGeom>
          <a:noFill/>
          <a:ln/>
        </p:spPr>
        <p:txBody>
          <a:bodyPr wrap="square" lIns="0" tIns="0" rIns="0" bIns="0" rtlCol="0" anchor="t"/>
          <a:lstStyle/>
          <a:p>
            <a:pPr indent="0" marL="0">
              <a:buNone/>
            </a:pPr>
            <a:r>
              <a:rPr lang="en-US" sz="1300" dirty="0">
                <a:solidFill>
                  <a:srgbClr val="5B6B70"/>
                </a:solidFill>
              </a:rPr>
              <a:t>Confusion matrix: 192 of 200 test patients correct (green diagonal).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Which tests matter most</a:t>
            </a:r>
            <a:endParaRPr lang="en-US" sz="3200" dirty="0"/>
          </a:p>
        </p:txBody>
      </p:sp>
      <p:graphicFrame>
        <p:nvGraphicFramePr>
          <p:cNvPr id="3" name="feature importance chart"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863840" y="1325880"/>
            <a:ext cx="3749040" cy="4846320"/>
          </a:xfrm>
          <a:prstGeom prst="roundRect">
            <a:avLst>
              <a:gd name="adj" fmla="val 2927"/>
            </a:avLst>
          </a:prstGeom>
          <a:solidFill>
            <a:srgbClr val="EEF6F5"/>
          </a:solidFill>
          <a:ln w="12700">
            <a:solidFill>
              <a:srgbClr val="EEF6F5"/>
            </a:solidFill>
            <a:prstDash val="solid"/>
          </a:ln>
        </p:spPr>
      </p:sp>
      <p:sp>
        <p:nvSpPr>
          <p:cNvPr id="5" name="insight icon circle"/>
          <p:cNvSpPr/>
          <p:nvPr/>
        </p:nvSpPr>
        <p:spPr>
          <a:xfrm>
            <a:off x="8183880" y="1645920"/>
            <a:ext cx="731520" cy="731520"/>
          </a:xfrm>
          <a:prstGeom prst="ellipse">
            <a:avLst/>
          </a:prstGeom>
          <a:solidFill>
            <a:srgbClr val="F2994A"/>
          </a:solidFill>
          <a:ln w="12700">
            <a:solidFill>
              <a:srgbClr val="F2994A"/>
            </a:solidFill>
            <a:prstDash val="solid"/>
          </a:ln>
        </p:spPr>
      </p:sp>
      <p:pic>
        <p:nvPicPr>
          <p:cNvPr id="6" name="insight icon" descr="preencoded.png">    </p:cNvPr>
          <p:cNvPicPr>
            <a:picLocks noChangeAspect="1"/>
          </p:cNvPicPr>
          <p:nvPr/>
        </p:nvPicPr>
        <p:blipFill>
          <a:blip r:embed="rId2"/>
          <a:stretch>
            <a:fillRect/>
          </a:stretch>
        </p:blipFill>
        <p:spPr>
          <a:xfrm>
            <a:off x="8366760" y="1828800"/>
            <a:ext cx="365760" cy="365760"/>
          </a:xfrm>
          <a:prstGeom prst="rect">
            <a:avLst/>
          </a:prstGeom>
        </p:spPr>
      </p:pic>
      <p:sp>
        <p:nvSpPr>
          <p:cNvPr id="7" name="Text 3"/>
          <p:cNvSpPr txBox="1"/>
          <p:nvPr/>
        </p:nvSpPr>
        <p:spPr>
          <a:xfrm>
            <a:off x="8183880" y="2560320"/>
            <a:ext cx="3200400" cy="731520"/>
          </a:xfrm>
          <a:prstGeom prst="rect">
            <a:avLst/>
          </a:prstGeom>
          <a:noFill/>
          <a:ln/>
        </p:spPr>
        <p:txBody>
          <a:bodyPr wrap="square" lIns="0" tIns="0" rIns="0" bIns="0" rtlCol="0" anchor="t"/>
          <a:lstStyle/>
          <a:p>
            <a:pPr indent="0" marL="0">
              <a:buNone/>
            </a:pPr>
            <a:r>
              <a:rPr lang="en-US" sz="1800" b="1" dirty="0">
                <a:solidFill>
                  <a:srgbClr val="0E3B3D"/>
                </a:solidFill>
              </a:rPr>
              <a:t>The model learned real medical signs</a:t>
            </a:r>
            <a:endParaRPr lang="en-US" sz="1800" dirty="0"/>
          </a:p>
        </p:txBody>
      </p:sp>
      <p:sp>
        <p:nvSpPr>
          <p:cNvPr id="8" name="Text 4"/>
          <p:cNvSpPr txBox="1"/>
          <p:nvPr/>
        </p:nvSpPr>
        <p:spPr>
          <a:xfrm>
            <a:off x="8183880" y="3337560"/>
            <a:ext cx="320040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428"/>
                </a:solidFill>
              </a:rPr>
              <a:t>Sickled red cells → Sickle cell anemia</a:t>
            </a:r>
            <a:endParaRPr lang="en-US" sz="1400" dirty="0"/>
          </a:p>
          <a:p>
            <a:pPr marL="342900" indent="-342900">
              <a:spcAft>
                <a:spcPts val="800"/>
              </a:spcAft>
              <a:buSzPct val="100000"/>
              <a:buChar char="•"/>
            </a:pPr>
            <a:r>
              <a:rPr lang="en-US" sz="1400" dirty="0">
                <a:solidFill>
                  <a:srgbClr val="1B2428"/>
                </a:solidFill>
              </a:rPr>
              <a:t>BRCA1 → Breast cancer</a:t>
            </a:r>
            <a:endParaRPr lang="en-US" sz="1400" dirty="0"/>
          </a:p>
          <a:p>
            <a:pPr marL="342900" indent="-342900">
              <a:spcAft>
                <a:spcPts val="800"/>
              </a:spcAft>
              <a:buSzPct val="100000"/>
              <a:buChar char="•"/>
            </a:pPr>
            <a:r>
              <a:rPr lang="en-US" sz="1400" dirty="0">
                <a:solidFill>
                  <a:srgbClr val="1B2428"/>
                </a:solidFill>
              </a:rPr>
              <a:t>Sweat chloride → Cystic fibrosis</a:t>
            </a:r>
            <a:endParaRPr lang="en-US" sz="1400" dirty="0"/>
          </a:p>
          <a:p>
            <a:pPr marL="342900" indent="-342900">
              <a:spcAft>
                <a:spcPts val="800"/>
              </a:spcAft>
              <a:buSzPct val="100000"/>
              <a:buChar char="•"/>
            </a:pPr>
            <a:r>
              <a:rPr lang="en-US" sz="1400" dirty="0">
                <a:solidFill>
                  <a:srgbClr val="1B2428"/>
                </a:solidFill>
              </a:rPr>
              <a:t>Ferritin and fetal hemoglobin → Thalassemia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Web application: predict a patient</a:t>
            </a:r>
            <a:endParaRPr lang="en-US" sz="3200" dirty="0"/>
          </a:p>
        </p:txBody>
      </p:sp>
      <p:pic>
        <p:nvPicPr>
          <p:cNvPr id="3" name="predict page screenshot" descr="GeneScope predict page">    </p:cNvPr>
          <p:cNvPicPr>
            <a:picLocks noChangeAspect="1"/>
          </p:cNvPicPr>
          <p:nvPr/>
        </p:nvPicPr>
        <p:blipFill>
          <a:blip r:embed="rId1"/>
          <a:stretch>
            <a:fillRect/>
          </a:stretch>
        </p:blipFill>
        <p:spPr>
          <a:xfrm>
            <a:off x="548640" y="1280160"/>
            <a:ext cx="7863840" cy="5055326"/>
          </a:xfrm>
          <a:prstGeom prst="rect">
            <a:avLst/>
          </a:prstGeom>
        </p:spPr>
      </p:pic>
      <p:sp>
        <p:nvSpPr>
          <p:cNvPr id="4" name="Text 1"/>
          <p:cNvSpPr txBox="1"/>
          <p:nvPr/>
        </p:nvSpPr>
        <p:spPr>
          <a:xfrm>
            <a:off x="8686800" y="1371600"/>
            <a:ext cx="2926080" cy="48463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B2428"/>
                </a:solidFill>
              </a:rPr>
              <a:t>Enter lab results and genetic markers</a:t>
            </a:r>
            <a:endParaRPr lang="en-US" sz="1400" dirty="0"/>
          </a:p>
          <a:p>
            <a:pPr marL="342900" indent="-342900">
              <a:spcAft>
                <a:spcPts val="1000"/>
              </a:spcAft>
              <a:buSzPct val="100000"/>
              <a:buChar char="•"/>
            </a:pPr>
            <a:r>
              <a:rPr lang="en-US" sz="1400" dirty="0">
                <a:solidFill>
                  <a:srgbClr val="1B2428"/>
                </a:solidFill>
              </a:rPr>
              <a:t>Shows the predicted disease with a short explanation</a:t>
            </a:r>
            <a:endParaRPr lang="en-US" sz="1400" dirty="0"/>
          </a:p>
          <a:p>
            <a:pPr marL="342900" indent="-342900">
              <a:spcAft>
                <a:spcPts val="1000"/>
              </a:spcAft>
              <a:buSzPct val="100000"/>
              <a:buChar char="•"/>
            </a:pPr>
            <a:r>
              <a:rPr lang="en-US" sz="1400" dirty="0">
                <a:solidFill>
                  <a:srgbClr val="1B2428"/>
                </a:solidFill>
              </a:rPr>
              <a:t>Confidence ring and probability for every disease</a:t>
            </a:r>
            <a:endParaRPr lang="en-US" sz="1400" dirty="0"/>
          </a:p>
          <a:p>
            <a:pPr marL="342900" indent="-342900">
              <a:spcAft>
                <a:spcPts val="1000"/>
              </a:spcAft>
              <a:buSzPct val="100000"/>
              <a:buChar char="•"/>
            </a:pPr>
            <a:r>
              <a:rPr lang="en-US" sz="1400" dirty="0">
                <a:solidFill>
                  <a:srgbClr val="1B2428"/>
                </a:solidFill>
              </a:rPr>
              <a:t>Load sample patient: a real unseen patient with the correct answer shown</a:t>
            </a:r>
            <a:endParaRPr lang="en-US" sz="1400" dirty="0"/>
          </a:p>
          <a:p>
            <a:pPr marL="342900" indent="-342900">
              <a:spcAft>
                <a:spcPts val="1000"/>
              </a:spcAft>
              <a:buSzPct val="100000"/>
              <a:buChar char="•"/>
            </a:pPr>
            <a:r>
              <a:rPr lang="en-US" sz="1400" dirty="0">
                <a:solidFill>
                  <a:srgbClr val="1B2428"/>
                </a:solidFill>
              </a:rPr>
              <a:t>Batch page: upload a CSV for many patients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Web application: model performance page</a:t>
            </a:r>
            <a:endParaRPr lang="en-US" sz="3200" dirty="0"/>
          </a:p>
        </p:txBody>
      </p:sp>
      <p:pic>
        <p:nvPicPr>
          <p:cNvPr id="3" name="performance page screenshot" descr="GeneScope performance page">    </p:cNvPr>
          <p:cNvPicPr>
            <a:picLocks noChangeAspect="1"/>
          </p:cNvPicPr>
          <p:nvPr/>
        </p:nvPicPr>
        <p:blipFill>
          <a:blip r:embed="rId1"/>
          <a:stretch>
            <a:fillRect/>
          </a:stretch>
        </p:blipFill>
        <p:spPr>
          <a:xfrm>
            <a:off x="1222641" y="1280160"/>
            <a:ext cx="9716237" cy="493776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Limitations and future work</a:t>
            </a:r>
            <a:endParaRPr lang="en-US" sz="3200" dirty="0"/>
          </a:p>
        </p:txBody>
      </p:sp>
      <p:sp>
        <p:nvSpPr>
          <p:cNvPr id="3" name="card"/>
          <p:cNvSpPr/>
          <p:nvPr/>
        </p:nvSpPr>
        <p:spPr>
          <a:xfrm>
            <a:off x="548640" y="1371600"/>
            <a:ext cx="5349240" cy="4023360"/>
          </a:xfrm>
          <a:prstGeom prst="roundRect">
            <a:avLst>
              <a:gd name="adj" fmla="val 2727"/>
            </a:avLst>
          </a:prstGeom>
          <a:solidFill>
            <a:srgbClr val="EEF6F5"/>
          </a:solidFill>
          <a:ln w="12700">
            <a:solidFill>
              <a:srgbClr val="EEF6F5"/>
            </a:solidFill>
            <a:prstDash val="solid"/>
          </a:ln>
        </p:spPr>
      </p:sp>
      <p:sp>
        <p:nvSpPr>
          <p:cNvPr id="4" name="limitations icon circle"/>
          <p:cNvSpPr/>
          <p:nvPr/>
        </p:nvSpPr>
        <p:spPr>
          <a:xfrm>
            <a:off x="868680" y="1691640"/>
            <a:ext cx="685800" cy="685800"/>
          </a:xfrm>
          <a:prstGeom prst="ellipse">
            <a:avLst/>
          </a:prstGeom>
          <a:solidFill>
            <a:srgbClr val="F2994A"/>
          </a:solidFill>
          <a:ln w="12700">
            <a:solidFill>
              <a:srgbClr val="F2994A"/>
            </a:solidFill>
            <a:prstDash val="solid"/>
          </a:ln>
        </p:spPr>
      </p:sp>
      <p:pic>
        <p:nvPicPr>
          <p:cNvPr id="5" name="limitations icon" descr="preencoded.png">    </p:cNvPr>
          <p:cNvPicPr>
            <a:picLocks noChangeAspect="1"/>
          </p:cNvPicPr>
          <p:nvPr/>
        </p:nvPicPr>
        <p:blipFill>
          <a:blip r:embed="rId1"/>
          <a:stretch>
            <a:fillRect/>
          </a:stretch>
        </p:blipFill>
        <p:spPr>
          <a:xfrm>
            <a:off x="1040130" y="1863090"/>
            <a:ext cx="342900" cy="342900"/>
          </a:xfrm>
          <a:prstGeom prst="rect">
            <a:avLst/>
          </a:prstGeom>
        </p:spPr>
      </p:pic>
      <p:sp>
        <p:nvSpPr>
          <p:cNvPr id="6" name="Text 3"/>
          <p:cNvSpPr txBox="1"/>
          <p:nvPr/>
        </p:nvSpPr>
        <p:spPr>
          <a:xfrm>
            <a:off x="1737360" y="1783080"/>
            <a:ext cx="3931920" cy="502920"/>
          </a:xfrm>
          <a:prstGeom prst="rect">
            <a:avLst/>
          </a:prstGeom>
          <a:noFill/>
          <a:ln/>
        </p:spPr>
        <p:txBody>
          <a:bodyPr wrap="square" lIns="0" tIns="0" rIns="0" bIns="0" rtlCol="0" anchor="ctr"/>
          <a:lstStyle/>
          <a:p>
            <a:pPr indent="0" marL="0">
              <a:buNone/>
            </a:pPr>
            <a:r>
              <a:rPr lang="en-US" sz="2000" b="1" dirty="0">
                <a:solidFill>
                  <a:srgbClr val="0E3B3D"/>
                </a:solidFill>
              </a:rPr>
              <a:t>Limitations</a:t>
            </a:r>
            <a:endParaRPr lang="en-US" sz="2000" dirty="0"/>
          </a:p>
        </p:txBody>
      </p:sp>
      <p:sp>
        <p:nvSpPr>
          <p:cNvPr id="7" name="Text 4"/>
          <p:cNvSpPr txBox="1"/>
          <p:nvPr/>
        </p:nvSpPr>
        <p:spPr>
          <a:xfrm>
            <a:off x="868680" y="2606040"/>
            <a:ext cx="475488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28"/>
                </a:solidFill>
              </a:rPr>
              <a:t>The dataset is synthetic but realistic (as stated by its author)</a:t>
            </a:r>
            <a:endParaRPr lang="en-US" sz="1600" dirty="0"/>
          </a:p>
          <a:p>
            <a:pPr marL="342900" indent="-342900">
              <a:spcAft>
                <a:spcPts val="1000"/>
              </a:spcAft>
              <a:buSzPct val="100000"/>
              <a:buChar char="•"/>
            </a:pPr>
            <a:r>
              <a:rPr lang="en-US" sz="1600" dirty="0">
                <a:solidFill>
                  <a:srgbClr val="1B2428"/>
                </a:solidFill>
              </a:rPr>
              <a:t>1,000 patients is a small dataset</a:t>
            </a:r>
            <a:endParaRPr lang="en-US" sz="1600" dirty="0"/>
          </a:p>
          <a:p>
            <a:pPr marL="342900" indent="-342900">
              <a:spcAft>
                <a:spcPts val="1000"/>
              </a:spcAft>
              <a:buSzPct val="100000"/>
              <a:buChar char="•"/>
            </a:pPr>
            <a:r>
              <a:rPr lang="en-US" sz="1600" dirty="0">
                <a:solidFill>
                  <a:srgbClr val="1B2428"/>
                </a:solidFill>
              </a:rPr>
              <a:t>Every patient has one of the 5 diseases, so the model cannot predict "healthy"</a:t>
            </a:r>
            <a:endParaRPr lang="en-US" sz="1600" dirty="0"/>
          </a:p>
          <a:p>
            <a:pPr marL="342900" indent="-342900">
              <a:spcAft>
                <a:spcPts val="1000"/>
              </a:spcAft>
              <a:buSzPct val="100000"/>
              <a:buChar char="•"/>
            </a:pPr>
            <a:r>
              <a:rPr lang="en-US" sz="1600" dirty="0">
                <a:solidFill>
                  <a:srgbClr val="1B2428"/>
                </a:solidFill>
              </a:rPr>
              <a:t>Educational project, not a clinical tool</a:t>
            </a:r>
            <a:endParaRPr lang="en-US" sz="1600" dirty="0"/>
          </a:p>
        </p:txBody>
      </p:sp>
      <p:sp>
        <p:nvSpPr>
          <p:cNvPr id="8" name="card"/>
          <p:cNvSpPr/>
          <p:nvPr/>
        </p:nvSpPr>
        <p:spPr>
          <a:xfrm>
            <a:off x="6263640" y="1371600"/>
            <a:ext cx="5349240" cy="4023360"/>
          </a:xfrm>
          <a:prstGeom prst="roundRect">
            <a:avLst>
              <a:gd name="adj" fmla="val 2727"/>
            </a:avLst>
          </a:prstGeom>
          <a:solidFill>
            <a:srgbClr val="EEF6F5"/>
          </a:solidFill>
          <a:ln w="12700">
            <a:solidFill>
              <a:srgbClr val="EEF6F5"/>
            </a:solidFill>
            <a:prstDash val="solid"/>
          </a:ln>
        </p:spPr>
      </p:sp>
      <p:sp>
        <p:nvSpPr>
          <p:cNvPr id="9" name="future icon circle"/>
          <p:cNvSpPr/>
          <p:nvPr/>
        </p:nvSpPr>
        <p:spPr>
          <a:xfrm>
            <a:off x="6583680" y="1691640"/>
            <a:ext cx="685800" cy="685800"/>
          </a:xfrm>
          <a:prstGeom prst="ellipse">
            <a:avLst/>
          </a:prstGeom>
          <a:solidFill>
            <a:srgbClr val="13A89E"/>
          </a:solidFill>
          <a:ln w="12700">
            <a:solidFill>
              <a:srgbClr val="13A89E"/>
            </a:solidFill>
            <a:prstDash val="solid"/>
          </a:ln>
        </p:spPr>
      </p:sp>
      <p:pic>
        <p:nvPicPr>
          <p:cNvPr id="10" name="future icon" descr="preencoded.png">    </p:cNvPr>
          <p:cNvPicPr>
            <a:picLocks noChangeAspect="1"/>
          </p:cNvPicPr>
          <p:nvPr/>
        </p:nvPicPr>
        <p:blipFill>
          <a:blip r:embed="rId2"/>
          <a:stretch>
            <a:fillRect/>
          </a:stretch>
        </p:blipFill>
        <p:spPr>
          <a:xfrm>
            <a:off x="6755130" y="1863090"/>
            <a:ext cx="342900" cy="342900"/>
          </a:xfrm>
          <a:prstGeom prst="rect">
            <a:avLst/>
          </a:prstGeom>
        </p:spPr>
      </p:pic>
      <p:sp>
        <p:nvSpPr>
          <p:cNvPr id="11" name="Text 7"/>
          <p:cNvSpPr txBox="1"/>
          <p:nvPr/>
        </p:nvSpPr>
        <p:spPr>
          <a:xfrm>
            <a:off x="7452360" y="1783080"/>
            <a:ext cx="3931920" cy="502920"/>
          </a:xfrm>
          <a:prstGeom prst="rect">
            <a:avLst/>
          </a:prstGeom>
          <a:noFill/>
          <a:ln/>
        </p:spPr>
        <p:txBody>
          <a:bodyPr wrap="square" lIns="0" tIns="0" rIns="0" bIns="0" rtlCol="0" anchor="ctr"/>
          <a:lstStyle/>
          <a:p>
            <a:pPr indent="0" marL="0">
              <a:buNone/>
            </a:pPr>
            <a:r>
              <a:rPr lang="en-US" sz="2000" b="1" dirty="0">
                <a:solidFill>
                  <a:srgbClr val="0E3B3D"/>
                </a:solidFill>
              </a:rPr>
              <a:t>Future work</a:t>
            </a:r>
            <a:endParaRPr lang="en-US" sz="2000" dirty="0"/>
          </a:p>
        </p:txBody>
      </p:sp>
      <p:sp>
        <p:nvSpPr>
          <p:cNvPr id="12" name="Text 8"/>
          <p:cNvSpPr txBox="1"/>
          <p:nvPr/>
        </p:nvSpPr>
        <p:spPr>
          <a:xfrm>
            <a:off x="6583680" y="2606040"/>
            <a:ext cx="475488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28"/>
                </a:solidFill>
              </a:rPr>
              <a:t>Train on real hospital patient records</a:t>
            </a:r>
            <a:endParaRPr lang="en-US" sz="1600" dirty="0"/>
          </a:p>
          <a:p>
            <a:pPr marL="342900" indent="-342900">
              <a:spcAft>
                <a:spcPts val="1000"/>
              </a:spcAft>
              <a:buSzPct val="100000"/>
              <a:buChar char="•"/>
            </a:pPr>
            <a:r>
              <a:rPr lang="en-US" sz="1600" dirty="0">
                <a:solidFill>
                  <a:srgbClr val="1B2428"/>
                </a:solidFill>
              </a:rPr>
              <a:t>Add a "healthy" class and more diseases</a:t>
            </a:r>
            <a:endParaRPr lang="en-US" sz="1600" dirty="0"/>
          </a:p>
          <a:p>
            <a:pPr marL="342900" indent="-342900">
              <a:spcAft>
                <a:spcPts val="1000"/>
              </a:spcAft>
              <a:buSzPct val="100000"/>
              <a:buChar char="•"/>
            </a:pPr>
            <a:r>
              <a:rPr lang="en-US" sz="1600" dirty="0">
                <a:solidFill>
                  <a:srgbClr val="1B2428"/>
                </a:solidFill>
              </a:rPr>
              <a:t>Use DNA sequence data with deeper models (CNN / Transformer)</a:t>
            </a:r>
            <a:endParaRPr lang="en-US" sz="1600" dirty="0"/>
          </a:p>
          <a:p>
            <a:pPr marL="342900" indent="-342900">
              <a:spcAft>
                <a:spcPts val="1000"/>
              </a:spcAft>
              <a:buSzPct val="100000"/>
              <a:buChar char="•"/>
            </a:pPr>
            <a:r>
              <a:rPr lang="en-US" sz="1600" dirty="0">
                <a:solidFill>
                  <a:srgbClr val="1B2428"/>
                </a:solidFill>
              </a:rPr>
              <a:t>Deploy online for doctors to test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828800"/>
          </a:xfrm>
          <a:prstGeom prst="rect">
            <a:avLst/>
          </a:prstGeom>
          <a:noFill/>
          <a:ln/>
        </p:spPr>
        <p:txBody>
          <a:bodyPr wrap="square" lIns="0" tIns="0" rIns="0" bIns="0" rtlCol="0" anchor="b"/>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731520" y="3886200"/>
            <a:ext cx="7680960" cy="914400"/>
          </a:xfrm>
          <a:prstGeom prst="rect">
            <a:avLst/>
          </a:prstGeom>
          <a:noFill/>
          <a:ln/>
        </p:spPr>
        <p:txBody>
          <a:bodyPr wrap="square" lIns="0" tIns="0" rIns="0" bIns="0" rtlCol="0" anchor="t"/>
          <a:lstStyle/>
          <a:p>
            <a:pPr algn="l" indent="0" marL="0">
              <a:buNone/>
            </a:pPr>
            <a:r>
              <a:rPr lang="en-US" sz="1800" dirty="0">
                <a:solidFill>
                  <a:srgbClr val="B9DCD8"/>
                </a:solidFill>
              </a:rPr>
              <a:t>Deep learning predicts 5 genetic diseases with 96% accuracy on unseen patients. Questions?</a:t>
            </a:r>
            <a:endParaRPr lang="en-US" sz="1800" dirty="0"/>
          </a:p>
        </p:txBody>
      </p:sp>
      <p:sp>
        <p:nvSpPr>
          <p:cNvPr id="4" name="closing circle"/>
          <p:cNvSpPr/>
          <p:nvPr/>
        </p:nvSpPr>
        <p:spPr>
          <a:xfrm>
            <a:off x="8732520" y="1417320"/>
            <a:ext cx="2926080" cy="2926080"/>
          </a:xfrm>
          <a:prstGeom prst="ellipse">
            <a:avLst/>
          </a:prstGeom>
          <a:solidFill>
            <a:srgbClr val="135052"/>
          </a:solidFill>
          <a:ln w="12700">
            <a:solidFill>
              <a:srgbClr val="135052"/>
            </a:solidFill>
            <a:prstDash val="solid"/>
          </a:ln>
        </p:spPr>
      </p:sp>
      <p:pic>
        <p:nvPicPr>
          <p:cNvPr id="5" name="closing dna icon" descr="preencoded.png">    </p:cNvPr>
          <p:cNvPicPr>
            <a:picLocks noChangeAspect="1"/>
          </p:cNvPicPr>
          <p:nvPr/>
        </p:nvPicPr>
        <p:blipFill>
          <a:blip r:embed="rId1"/>
          <a:stretch>
            <a:fillRect/>
          </a:stretch>
        </p:blipFill>
        <p:spPr>
          <a:xfrm>
            <a:off x="9372600" y="2057400"/>
            <a:ext cx="1645920" cy="1645920"/>
          </a:xfrm>
          <a:prstGeom prst="rect">
            <a:avLst/>
          </a:prstGeom>
        </p:spPr>
      </p:pic>
    </p:spTree>
  </p:cSld>
  <p:clrMapOvr>
    <a:masterClrMapping/>
  </p:clrMapOvr>
</p:sld>
</file>

<file path=ppt/theme/theme1.xml><?xml version="1.0" encoding="utf-8"?>
<a:theme xmlns:a="http://schemas.openxmlformats.org/drawingml/2006/main" name="GeneScope Teal">
  <a:themeElements>
    <a:clrScheme name="GeneScope Teal">
      <a:dk1>
        <a:srgbClr val="1B2428"/>
      </a:dk1>
      <a:lt1>
        <a:srgbClr val="FFFFFF"/>
      </a:lt1>
      <a:dk2>
        <a:srgbClr val="0E3B3D"/>
      </a:dk2>
      <a:lt2>
        <a:srgbClr val="EEF6F5"/>
      </a:lt2>
      <a:accent1>
        <a:srgbClr val="13A89E"/>
      </a:accent1>
      <a:accent2>
        <a:srgbClr val="F2994A"/>
      </a:accent2>
      <a:accent3>
        <a:srgbClr val="2563EB"/>
      </a:accent3>
      <a:accent4>
        <a:srgbClr val="DC2626"/>
      </a:accent4>
      <a:accent5>
        <a:srgbClr val="DB2777"/>
      </a:accent5>
      <a:accent6>
        <a:srgbClr val="D97706"/>
      </a:accent6>
      <a:hlink>
        <a:srgbClr val="0E7C74"/>
      </a:hlink>
      <a:folHlink>
        <a:srgbClr val="6B7C80"/>
      </a:folHlink>
    </a:clrScheme>
    <a:fontScheme name="GeneScope Teal">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Genome Disorder Prediction Model Empowered With Deep Learning</dc:title>
  <dc:subject>PptxGenJS Presentation</dc:subject>
  <dc:creator>GeneScope project team</dc:creator>
  <cp:lastModifiedBy>GeneScope project team</cp:lastModifiedBy>
  <cp:revision>1</cp:revision>
  <dcterms:created xsi:type="dcterms:W3CDTF">2026-10-15T13:27:29Z</dcterms:created>
  <dcterms:modified xsi:type="dcterms:W3CDTF">2026-10-15T13:27:29Z</dcterms:modified>
</cp:coreProperties>
</file>